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seminar surveys RF fingerprinting: identifying a radio from imperfections in its hardware rather than from its data. We cover the main families of published methods, compare them, find the gap, and in the last four slides show our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wireless security authenticates the data. Fixed codes can be recorded and replayed; RollJam and Garcia et al. show even rolling codes and car keys are vulnerable. Physical-layer authentication asks whether the signal came from the expected transmitter.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Imperfections enter at every stage of the transmitter. Methods split into transient-based and steady-state families.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crystal runs slightly fast or slow; the offset grows linearly and its slope identifies the device. Kohno used TCP timestamps; Jana and Kasera used Wi-Fi beacons to detect rogue access points.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Transient methods look at the turn-on period before data starts. They separate even identical nodes but need very fast sampling.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PARADIS measures modulation errors of 802.11b cards (offset, rotation, I/Q imbalance in the constellation) and classifies them with k-NN and SVM. Robust, but it needs a vector signal analyser.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2018 CNNs learned fingerprints directly from I/Q samples (Merchant, Riyaz, ORACLE). High accuracy, but they need SDRs and GPUs and are sensitive to the channel.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Multipath can dominate the device response; Shen et al. removed most of it with a channel-independent spectrogram. In our project the cheap receiver's own distortion plays the same role.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Closed-set classifiers label an attacker as some enrolled device; metric learning plus a Mahalanobis threshold per device rejects unknowns.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Nearly every RF result depends on expensive capture hardware; the open-set methods are general, not RF-specific.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gaps: cost, receiver distortion, no on-device decision, single factor. That leads to our question.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PhyAuth-RF: a QC5681 remote, an ESP32 + SRX882 receiver, and an ESP32-S3 + STX882 emulator and attacker. All decisions are made on the ESP32; the laptop only trains and monitors.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timestamps at 4.17 ns; clock from the pair period and sync gap; 11 features into a 963-parameter EdgeMLP; Mahalanobis decision over four frames.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accuracy, 0.49% frame EER, all clone and unknown bursts rejected, about 172 ms, 7 KB. Two-factor smart lock on the same ESP32. Limits: one genuine remote, small test sets, 0.75 to 1.25 m range.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and thanks.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0" y="0"/>
            <a:ext cx="12192000" cy="101600"/>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it_logo.png"/>
          <p:cNvPicPr>
            <a:picLocks noChangeAspect="1"/>
          </p:cNvPicPr>
          <p:nvPr/>
        </p:nvPicPr>
        <p:blipFill>
          <a:blip r:embed="rId2"/>
          <a:stretch>
            <a:fillRect/>
          </a:stretch>
        </p:blipFill>
        <p:spPr>
          <a:xfrm>
            <a:off x="8890000" y="485531"/>
            <a:ext cx="2489200" cy="743437"/>
          </a:xfrm>
          <a:prstGeom prst="rect">
            <a:avLst/>
          </a:prstGeom>
        </p:spPr>
      </p:pic>
      <p:sp>
        <p:nvSpPr>
          <p:cNvPr id="4" name="TextBox 3"/>
          <p:cNvSpPr txBox="1"/>
          <p:nvPr/>
        </p:nvSpPr>
        <p:spPr>
          <a:xfrm>
            <a:off x="812800" y="1651000"/>
            <a:ext cx="10160000" cy="3083052"/>
          </a:xfrm>
          <a:prstGeom prst="rect">
            <a:avLst/>
          </a:prstGeom>
          <a:noFill/>
        </p:spPr>
        <p:txBody>
          <a:bodyPr wrap="square" lIns="0" rIns="0" tIns="0" bIns="0">
            <a:spAutoFit/>
          </a:bodyPr>
          <a:lstStyle/>
          <a:p>
            <a:pPr algn="l">
              <a:lnSpc>
                <a:spcPct val="108000"/>
              </a:lnSpc>
              <a:spcAft>
                <a:spcPts val="1200"/>
              </a:spcAft>
            </a:pPr>
            <a:r>
              <a:rPr sz="1500" b="1">
                <a:solidFill>
                  <a:srgbClr val="0E6E73"/>
                </a:solidFill>
                <a:latin typeface="Calibri"/>
              </a:rPr>
              <a:t>SEMINAR  ·  BECE306P DIGITAL COMMUNICATION SYSTEMS</a:t>
            </a:r>
          </a:p>
          <a:p>
            <a:pPr algn="l">
              <a:lnSpc>
                <a:spcPct val="108000"/>
              </a:lnSpc>
              <a:spcAft>
                <a:spcPts val="1400"/>
              </a:spcAft>
            </a:pPr>
            <a:r>
              <a:rPr sz="4600" b="1">
                <a:solidFill>
                  <a:srgbClr val="1B2638"/>
                </a:solidFill>
                <a:latin typeface="Georgia"/>
              </a:rPr>
              <a:t>RF Fingerprinting for Physical-Layer Device Authentication</a:t>
            </a:r>
          </a:p>
          <a:p>
            <a:pPr algn="l">
              <a:lnSpc>
                <a:spcPct val="108000"/>
              </a:lnSpc>
              <a:spcAft>
                <a:spcPts val="400"/>
              </a:spcAft>
            </a:pPr>
            <a:r>
              <a:rPr sz="2200" b="0">
                <a:solidFill>
                  <a:srgbClr val="3F4A5C"/>
                </a:solidFill>
                <a:latin typeface="Calibri"/>
              </a:rPr>
              <a:t>A survey of how radios are identified by their hardware imperfections, and a low-cost implementation on a 433 MHz ESP32 receiver</a:t>
            </a:r>
          </a:p>
        </p:txBody>
      </p:sp>
      <p:sp>
        <p:nvSpPr>
          <p:cNvPr id="5" name="Rectangle 4"/>
          <p:cNvSpPr/>
          <p:nvPr/>
        </p:nvSpPr>
        <p:spPr>
          <a:xfrm>
            <a:off x="812800" y="4988052"/>
            <a:ext cx="10566400" cy="12700"/>
          </a:xfrm>
          <a:prstGeom prst="rect">
            <a:avLst/>
          </a:prstGeom>
          <a:solidFill>
            <a:srgbClr val="D9D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5242052"/>
            <a:ext cx="5715000" cy="1426209"/>
          </a:xfrm>
          <a:prstGeom prst="rect">
            <a:avLst/>
          </a:prstGeom>
          <a:noFill/>
        </p:spPr>
        <p:txBody>
          <a:bodyPr wrap="square" lIns="0" rIns="0" tIns="0" bIns="0">
            <a:spAutoFit/>
          </a:bodyPr>
          <a:lstStyle/>
          <a:p>
            <a:pPr algn="l">
              <a:lnSpc>
                <a:spcPct val="118000"/>
              </a:lnSpc>
              <a:spcAft>
                <a:spcPts val="400"/>
              </a:spcAft>
            </a:pPr>
            <a:r>
              <a:rPr sz="1300" b="1">
                <a:solidFill>
                  <a:srgbClr val="B4531A"/>
                </a:solidFill>
                <a:latin typeface="Calibri"/>
              </a:rPr>
              <a:t>PRESENTED BY</a:t>
            </a:r>
          </a:p>
          <a:p>
            <a:pPr algn="l">
              <a:lnSpc>
                <a:spcPct val="118000"/>
              </a:lnSpc>
              <a:spcAft>
                <a:spcPts val="400"/>
              </a:spcAft>
            </a:pPr>
            <a:r>
              <a:rPr sz="1800" b="0">
                <a:solidFill>
                  <a:srgbClr val="3F4A5C"/>
                </a:solidFill>
                <a:latin typeface="Calibri"/>
              </a:rPr>
              <a:t>Pratik Kumar (24BML0027)  ·  Nikunj Goydani (24BEC0338)</a:t>
            </a:r>
          </a:p>
          <a:p>
            <a:pPr algn="l">
              <a:lnSpc>
                <a:spcPct val="118000"/>
              </a:lnSpc>
              <a:spcAft>
                <a:spcPts val="400"/>
              </a:spcAft>
            </a:pPr>
            <a:r>
              <a:rPr sz="1800" b="0">
                <a:solidFill>
                  <a:srgbClr val="3F4A5C"/>
                </a:solidFill>
                <a:latin typeface="Calibri"/>
              </a:rPr>
              <a:t>Shruti (24BML0033)  ·  Uday Krishan Khandelwal (24BML0017)</a:t>
            </a:r>
          </a:p>
        </p:txBody>
      </p:sp>
      <p:sp>
        <p:nvSpPr>
          <p:cNvPr id="7" name="TextBox 6"/>
          <p:cNvSpPr txBox="1"/>
          <p:nvPr/>
        </p:nvSpPr>
        <p:spPr>
          <a:xfrm>
            <a:off x="7302500" y="5242052"/>
            <a:ext cx="4064000" cy="886713"/>
          </a:xfrm>
          <a:prstGeom prst="rect">
            <a:avLst/>
          </a:prstGeom>
          <a:noFill/>
        </p:spPr>
        <p:txBody>
          <a:bodyPr wrap="square" lIns="0" rIns="0" tIns="0" bIns="0">
            <a:spAutoFit/>
          </a:bodyPr>
          <a:lstStyle/>
          <a:p>
            <a:pPr algn="l">
              <a:lnSpc>
                <a:spcPct val="118000"/>
              </a:lnSpc>
              <a:spcAft>
                <a:spcPts val="400"/>
              </a:spcAft>
            </a:pPr>
            <a:r>
              <a:rPr sz="1300" b="1">
                <a:solidFill>
                  <a:srgbClr val="B4531A"/>
                </a:solidFill>
                <a:latin typeface="Calibri"/>
              </a:rPr>
              <a:t>GUIDE</a:t>
            </a:r>
          </a:p>
          <a:p>
            <a:pPr algn="l">
              <a:lnSpc>
                <a:spcPct val="118000"/>
              </a:lnSpc>
              <a:spcAft>
                <a:spcPts val="400"/>
              </a:spcAft>
            </a:pPr>
            <a:r>
              <a:rPr sz="1800" b="0">
                <a:solidFill>
                  <a:srgbClr val="3F4A5C"/>
                </a:solidFill>
                <a:latin typeface="Calibri"/>
              </a:rPr>
              <a:t>Dr. NandaKumar</a:t>
            </a:r>
          </a:p>
          <a:p>
            <a:pPr algn="l">
              <a:lnSpc>
                <a:spcPct val="118000"/>
              </a:lnSpc>
              <a:spcAft>
                <a:spcPts val="400"/>
              </a:spcAft>
            </a:pPr>
            <a:r>
              <a:rPr sz="1800" b="0">
                <a:solidFill>
                  <a:srgbClr val="3F4A5C"/>
                </a:solidFill>
                <a:latin typeface="Calibri"/>
              </a:rPr>
              <a:t>SENSE, VIT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0E6E73"/>
                </a:solidFill>
                <a:latin typeface="Calibri"/>
              </a:rPr>
              <a:t>MOTIVATION</a:t>
            </a:r>
          </a:p>
        </p:txBody>
      </p:sp>
      <p:sp>
        <p:nvSpPr>
          <p:cNvPr id="3" name="TextBox 2"/>
          <p:cNvSpPr txBox="1"/>
          <p:nvPr/>
        </p:nvSpPr>
        <p:spPr>
          <a:xfrm>
            <a:off x="812800" y="660400"/>
            <a:ext cx="10566400" cy="85090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Authenticating the message is not authenticating the device</a:t>
            </a:r>
          </a:p>
        </p:txBody>
      </p:sp>
      <p:sp>
        <p:nvSpPr>
          <p:cNvPr id="4" name="Rectangle 3"/>
          <p:cNvSpPr/>
          <p:nvPr/>
        </p:nvSpPr>
        <p:spPr>
          <a:xfrm>
            <a:off x="812800" y="1574800"/>
            <a:ext cx="762000" cy="38100"/>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828800"/>
            <a:ext cx="5080000" cy="2899664"/>
          </a:xfrm>
          <a:prstGeom prst="rect">
            <a:avLst/>
          </a:prstGeom>
          <a:noFill/>
        </p:spPr>
        <p:txBody>
          <a:bodyPr wrap="square" lIns="0" rIns="0" tIns="0" bIns="0">
            <a:spAutoFit/>
          </a:bodyPr>
          <a:lstStyle/>
          <a:p>
            <a:pPr algn="l">
              <a:lnSpc>
                <a:spcPct val="118000"/>
              </a:lnSpc>
              <a:spcAft>
                <a:spcPts val="700"/>
              </a:spcAft>
            </a:pPr>
            <a:r>
              <a:rPr sz="2200" b="1">
                <a:solidFill>
                  <a:srgbClr val="1B2638"/>
                </a:solidFill>
                <a:latin typeface="Calibri"/>
              </a:rPr>
              <a:t>The problem</a:t>
            </a:r>
          </a:p>
          <a:p>
            <a:pPr algn="l">
              <a:lnSpc>
                <a:spcPct val="118000"/>
              </a:lnSpc>
              <a:spcAft>
                <a:spcPts val="400"/>
              </a:spcAft>
            </a:pPr>
            <a:r>
              <a:rPr sz="1900" b="0">
                <a:solidFill>
                  <a:srgbClr val="3F4A5C"/>
                </a:solidFill>
                <a:latin typeface="Calibri"/>
              </a:rPr>
              <a:t>•  Security usually checks a code or key carried in the data</a:t>
            </a:r>
          </a:p>
          <a:p>
            <a:pPr algn="l">
              <a:lnSpc>
                <a:spcPct val="118000"/>
              </a:lnSpc>
              <a:spcAft>
                <a:spcPts val="400"/>
              </a:spcAft>
            </a:pPr>
            <a:r>
              <a:rPr sz="1900" b="0">
                <a:solidFill>
                  <a:srgbClr val="3F4A5C"/>
                </a:solidFill>
                <a:latin typeface="Calibri"/>
              </a:rPr>
              <a:t>•  Cheap IoT links (433 MHz remotes, sensors) send fixed or weakly protected codes</a:t>
            </a:r>
          </a:p>
          <a:p>
            <a:pPr algn="l">
              <a:lnSpc>
                <a:spcPct val="118000"/>
              </a:lnSpc>
              <a:spcAft>
                <a:spcPts val="400"/>
              </a:spcAft>
            </a:pPr>
            <a:r>
              <a:rPr sz="1900" b="0">
                <a:solidFill>
                  <a:srgbClr val="3F4A5C"/>
                </a:solidFill>
                <a:latin typeface="Calibri"/>
              </a:rPr>
              <a:t>•  Anyone can record the signal and replay it with a $5 transmitter</a:t>
            </a:r>
          </a:p>
          <a:p>
            <a:pPr algn="l">
              <a:lnSpc>
                <a:spcPct val="118000"/>
              </a:lnSpc>
              <a:spcAft>
                <a:spcPts val="400"/>
              </a:spcAft>
            </a:pPr>
            <a:r>
              <a:rPr sz="1900" b="0">
                <a:solidFill>
                  <a:srgbClr val="3F4A5C"/>
                </a:solidFill>
                <a:latin typeface="Calibri"/>
              </a:rPr>
              <a:t>•  The receiver cannot tell the genuine radio from a copy</a:t>
            </a:r>
          </a:p>
        </p:txBody>
      </p:sp>
      <p:sp>
        <p:nvSpPr>
          <p:cNvPr id="6" name="TextBox 5"/>
          <p:cNvSpPr txBox="1"/>
          <p:nvPr/>
        </p:nvSpPr>
        <p:spPr>
          <a:xfrm>
            <a:off x="6604000" y="1828800"/>
            <a:ext cx="4775200" cy="2007362"/>
          </a:xfrm>
          <a:prstGeom prst="rect">
            <a:avLst/>
          </a:prstGeom>
          <a:noFill/>
        </p:spPr>
        <p:txBody>
          <a:bodyPr wrap="square" lIns="0" rIns="0" tIns="0" bIns="0">
            <a:spAutoFit/>
          </a:bodyPr>
          <a:lstStyle/>
          <a:p>
            <a:pPr algn="l">
              <a:lnSpc>
                <a:spcPct val="118000"/>
              </a:lnSpc>
              <a:spcAft>
                <a:spcPts val="700"/>
              </a:spcAft>
            </a:pPr>
            <a:r>
              <a:rPr sz="2200" b="1">
                <a:solidFill>
                  <a:srgbClr val="1B2638"/>
                </a:solidFill>
                <a:latin typeface="Calibri"/>
              </a:rPr>
              <a:t>Known attacks</a:t>
            </a:r>
          </a:p>
          <a:p>
            <a:pPr algn="l">
              <a:lnSpc>
                <a:spcPct val="118000"/>
              </a:lnSpc>
              <a:spcAft>
                <a:spcPts val="900"/>
              </a:spcAft>
            </a:pPr>
            <a:r>
              <a:rPr sz="1900" b="1">
                <a:solidFill>
                  <a:srgbClr val="3F4A5C"/>
                </a:solidFill>
                <a:latin typeface="Calibri"/>
              </a:rPr>
              <a:t>RollJam</a:t>
            </a:r>
            <a:r>
              <a:rPr sz="1900" b="0">
                <a:solidFill>
                  <a:srgbClr val="3F4A5C"/>
                </a:solidFill>
                <a:latin typeface="Calibri"/>
              </a:rPr>
              <a:t> (Kamkar, DEF CON 2015): jams and records a rolling code, replays it later.</a:t>
            </a:r>
          </a:p>
          <a:p>
            <a:pPr algn="l">
              <a:lnSpc>
                <a:spcPct val="118000"/>
              </a:lnSpc>
              <a:spcAft>
                <a:spcPts val="400"/>
              </a:spcAft>
            </a:pPr>
            <a:r>
              <a:rPr sz="1900" b="1">
                <a:solidFill>
                  <a:srgbClr val="3F4A5C"/>
                </a:solidFill>
                <a:latin typeface="Calibri"/>
              </a:rPr>
              <a:t>Garcia et al.</a:t>
            </a:r>
            <a:r>
              <a:rPr sz="1900" b="0">
                <a:solidFill>
                  <a:srgbClr val="3F4A5C"/>
                </a:solidFill>
                <a:latin typeface="Calibri"/>
              </a:rPr>
              <a:t> (USENIX Security 2016): keyless entry of many vehicles broken by eavesdropping and cryptanalysis.</a:t>
            </a:r>
          </a:p>
        </p:txBody>
      </p:sp>
      <p:sp>
        <p:nvSpPr>
          <p:cNvPr id="7" name="Rounded Rectangle 6"/>
          <p:cNvSpPr/>
          <p:nvPr/>
        </p:nvSpPr>
        <p:spPr>
          <a:xfrm>
            <a:off x="812800" y="5207000"/>
            <a:ext cx="10566400" cy="543306"/>
          </a:xfrm>
          <a:prstGeom prst="roundRect">
            <a:avLst>
              <a:gd name="adj" fmla="val 11687"/>
            </a:avLst>
          </a:prstGeom>
          <a:solidFill>
            <a:srgbClr val="F6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800" y="5207000"/>
            <a:ext cx="50800" cy="543306"/>
          </a:xfrm>
          <a:prstGeom prst="rect">
            <a:avLst/>
          </a:prstGeom>
          <a:solidFill>
            <a:srgbClr val="B45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5321300"/>
            <a:ext cx="10160000" cy="365505"/>
          </a:xfrm>
          <a:prstGeom prst="rect">
            <a:avLst/>
          </a:prstGeom>
          <a:noFill/>
        </p:spPr>
        <p:txBody>
          <a:bodyPr wrap="square" lIns="0" rIns="0" tIns="0" bIns="0">
            <a:spAutoFit/>
          </a:bodyPr>
          <a:lstStyle/>
          <a:p>
            <a:pPr algn="l">
              <a:lnSpc>
                <a:spcPct val="118000"/>
              </a:lnSpc>
              <a:spcAft>
                <a:spcPts val="400"/>
              </a:spcAft>
            </a:pPr>
            <a:r>
              <a:rPr sz="2100" b="1">
                <a:solidFill>
                  <a:srgbClr val="1B2638"/>
                </a:solidFill>
                <a:latin typeface="Calibri"/>
              </a:rPr>
              <a:t>Idea:</a:t>
            </a:r>
            <a:r>
              <a:rPr sz="2100" b="0">
                <a:solidFill>
                  <a:srgbClr val="1B2638"/>
                </a:solidFill>
                <a:latin typeface="Calibri"/>
              </a:rPr>
              <a:t> verify who transmitted from the radio hardware itself, not from the code it sends.</a:t>
            </a:r>
          </a:p>
        </p:txBody>
      </p:sp>
      <p:sp>
        <p:nvSpPr>
          <p:cNvPr id="10" name="TextBox 9"/>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a:t>
            </a:r>
          </a:p>
        </p:txBody>
      </p:sp>
      <p:sp>
        <p:nvSpPr>
          <p:cNvPr id="11" name="TextBox 10"/>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0E6E73"/>
                </a:solidFill>
                <a:latin typeface="Calibri"/>
              </a:rPr>
              <a:t>BACKGROUND</a:t>
            </a:r>
          </a:p>
        </p:txBody>
      </p:sp>
      <p:sp>
        <p:nvSpPr>
          <p:cNvPr id="3" name="TextBox 2"/>
          <p:cNvSpPr txBox="1"/>
          <p:nvPr/>
        </p:nvSpPr>
        <p:spPr>
          <a:xfrm>
            <a:off x="812800" y="660400"/>
            <a:ext cx="10566400" cy="45085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What is an RF fingerprint?</a:t>
            </a:r>
          </a:p>
        </p:txBody>
      </p:sp>
      <p:sp>
        <p:nvSpPr>
          <p:cNvPr id="4" name="Rectangle 3"/>
          <p:cNvSpPr/>
          <p:nvPr/>
        </p:nvSpPr>
        <p:spPr>
          <a:xfrm>
            <a:off x="812800" y="1174750"/>
            <a:ext cx="762000" cy="38100"/>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428750"/>
            <a:ext cx="4445000" cy="3508502"/>
          </a:xfrm>
          <a:prstGeom prst="rect">
            <a:avLst/>
          </a:prstGeom>
          <a:noFill/>
        </p:spPr>
        <p:txBody>
          <a:bodyPr wrap="square" lIns="0" rIns="0" tIns="0" bIns="0">
            <a:spAutoFit/>
          </a:bodyPr>
          <a:lstStyle/>
          <a:p>
            <a:pPr algn="l">
              <a:lnSpc>
                <a:spcPct val="118000"/>
              </a:lnSpc>
              <a:spcAft>
                <a:spcPts val="800"/>
              </a:spcAft>
            </a:pPr>
            <a:r>
              <a:rPr sz="2100" b="1">
                <a:solidFill>
                  <a:srgbClr val="1B2638"/>
                </a:solidFill>
                <a:latin typeface="Calibri"/>
              </a:rPr>
              <a:t>Small hardware imperfections, unique to each transmitter</a:t>
            </a:r>
          </a:p>
          <a:p>
            <a:pPr algn="l">
              <a:lnSpc>
                <a:spcPct val="118000"/>
              </a:lnSpc>
              <a:spcAft>
                <a:spcPts val="400"/>
              </a:spcAft>
            </a:pPr>
            <a:r>
              <a:rPr sz="1900" b="0">
                <a:solidFill>
                  <a:srgbClr val="3F4A5C"/>
                </a:solidFill>
                <a:latin typeface="Calibri"/>
              </a:rPr>
              <a:t>•  Oscillator frequency offset and clock skew</a:t>
            </a:r>
          </a:p>
          <a:p>
            <a:pPr algn="l">
              <a:lnSpc>
                <a:spcPct val="118000"/>
              </a:lnSpc>
              <a:spcAft>
                <a:spcPts val="400"/>
              </a:spcAft>
            </a:pPr>
            <a:r>
              <a:rPr sz="1900" b="0">
                <a:solidFill>
                  <a:srgbClr val="3F4A5C"/>
                </a:solidFill>
                <a:latin typeface="Calibri"/>
              </a:rPr>
              <a:t>•  Phase noise and timing jitter</a:t>
            </a:r>
          </a:p>
          <a:p>
            <a:pPr algn="l">
              <a:lnSpc>
                <a:spcPct val="118000"/>
              </a:lnSpc>
              <a:spcAft>
                <a:spcPts val="400"/>
              </a:spcAft>
            </a:pPr>
            <a:r>
              <a:rPr sz="1900" b="0">
                <a:solidFill>
                  <a:srgbClr val="3F4A5C"/>
                </a:solidFill>
                <a:latin typeface="Calibri"/>
              </a:rPr>
              <a:t>•  Amplifier non-linearity, turn-on transient</a:t>
            </a:r>
          </a:p>
          <a:p>
            <a:pPr algn="l">
              <a:lnSpc>
                <a:spcPct val="118000"/>
              </a:lnSpc>
              <a:spcAft>
                <a:spcPts val="400"/>
              </a:spcAft>
            </a:pPr>
            <a:r>
              <a:rPr sz="1900" b="0">
                <a:solidFill>
                  <a:srgbClr val="3F4A5C"/>
                </a:solidFill>
                <a:latin typeface="Calibri"/>
              </a:rPr>
              <a:t>•  I/Q imbalance and DC offset</a:t>
            </a:r>
          </a:p>
          <a:p>
            <a:pPr algn="l">
              <a:lnSpc>
                <a:spcPct val="118000"/>
              </a:lnSpc>
              <a:spcAft>
                <a:spcPts val="400"/>
              </a:spcAft>
            </a:pPr>
            <a:r>
              <a:rPr sz="1900" b="0">
                <a:solidFill>
                  <a:srgbClr val="3F4A5C"/>
                </a:solidFill>
                <a:latin typeface="Calibri"/>
              </a:rPr>
              <a:t>•  Filter and DAC distortion</a:t>
            </a:r>
          </a:p>
          <a:p>
            <a:pPr algn="l">
              <a:lnSpc>
                <a:spcPct val="118000"/>
              </a:lnSpc>
              <a:spcAft>
                <a:spcPts val="400"/>
              </a:spcAft>
            </a:pPr>
            <a:r>
              <a:rPr sz="1700" b="0">
                <a:solidFill>
                  <a:srgbClr val="7A8394"/>
                </a:solidFill>
                <a:latin typeface="Calibri"/>
              </a:rPr>
              <a:t>From component tolerances: stable for one device, different across devices of the same model.</a:t>
            </a:r>
          </a:p>
        </p:txBody>
      </p:sp>
      <p:pic>
        <p:nvPicPr>
          <p:cNvPr id="6" name="Picture 5" descr="fig_impairments.png"/>
          <p:cNvPicPr>
            <a:picLocks noChangeAspect="1"/>
          </p:cNvPicPr>
          <p:nvPr/>
        </p:nvPicPr>
        <p:blipFill>
          <a:blip r:embed="rId2"/>
          <a:stretch>
            <a:fillRect/>
          </a:stretch>
        </p:blipFill>
        <p:spPr>
          <a:xfrm>
            <a:off x="5588000" y="1368261"/>
            <a:ext cx="5791200" cy="3422977"/>
          </a:xfrm>
          <a:prstGeom prst="rect">
            <a:avLst/>
          </a:prstGeom>
        </p:spPr>
      </p:pic>
      <p:sp>
        <p:nvSpPr>
          <p:cNvPr id="7" name="Rounded Rectangle 6"/>
          <p:cNvSpPr/>
          <p:nvPr/>
        </p:nvSpPr>
        <p:spPr>
          <a:xfrm>
            <a:off x="812800" y="5270500"/>
            <a:ext cx="5143500" cy="798068"/>
          </a:xfrm>
          <a:prstGeom prst="roundRect">
            <a:avLst>
              <a:gd name="adj" fmla="val 7956"/>
            </a:avLst>
          </a:prstGeom>
          <a:solidFill>
            <a:srgbClr val="E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800" y="5270500"/>
            <a:ext cx="50800" cy="798068"/>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5384800"/>
            <a:ext cx="4737100" cy="620268"/>
          </a:xfrm>
          <a:prstGeom prst="rect">
            <a:avLst/>
          </a:prstGeom>
          <a:noFill/>
        </p:spPr>
        <p:txBody>
          <a:bodyPr wrap="square" lIns="0" rIns="0" tIns="0" bIns="0">
            <a:spAutoFit/>
          </a:bodyPr>
          <a:lstStyle/>
          <a:p>
            <a:pPr algn="l">
              <a:lnSpc>
                <a:spcPct val="118000"/>
              </a:lnSpc>
              <a:spcAft>
                <a:spcPts val="400"/>
              </a:spcAft>
            </a:pPr>
            <a:r>
              <a:rPr sz="1900" b="1">
                <a:solidFill>
                  <a:srgbClr val="1B2638"/>
                </a:solidFill>
                <a:latin typeface="Calibri"/>
              </a:rPr>
              <a:t>Transient-based:</a:t>
            </a:r>
            <a:r>
              <a:rPr sz="1900" b="0">
                <a:solidFill>
                  <a:srgbClr val="1B2638"/>
                </a:solidFill>
                <a:latin typeface="Calibri"/>
              </a:rPr>
              <a:t> analyse the turn-on of a burst</a:t>
            </a:r>
          </a:p>
        </p:txBody>
      </p:sp>
      <p:sp>
        <p:nvSpPr>
          <p:cNvPr id="10" name="Rounded Rectangle 9"/>
          <p:cNvSpPr/>
          <p:nvPr/>
        </p:nvSpPr>
        <p:spPr>
          <a:xfrm>
            <a:off x="6235700" y="5270500"/>
            <a:ext cx="5143500" cy="798068"/>
          </a:xfrm>
          <a:prstGeom prst="roundRect">
            <a:avLst>
              <a:gd name="adj" fmla="val 7956"/>
            </a:avLst>
          </a:prstGeom>
          <a:solidFill>
            <a:srgbClr val="E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5700" y="5270500"/>
            <a:ext cx="50800" cy="798068"/>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8900" y="5384800"/>
            <a:ext cx="4737100" cy="620268"/>
          </a:xfrm>
          <a:prstGeom prst="rect">
            <a:avLst/>
          </a:prstGeom>
          <a:noFill/>
        </p:spPr>
        <p:txBody>
          <a:bodyPr wrap="square" lIns="0" rIns="0" tIns="0" bIns="0">
            <a:spAutoFit/>
          </a:bodyPr>
          <a:lstStyle/>
          <a:p>
            <a:pPr algn="l">
              <a:lnSpc>
                <a:spcPct val="118000"/>
              </a:lnSpc>
              <a:spcAft>
                <a:spcPts val="400"/>
              </a:spcAft>
            </a:pPr>
            <a:r>
              <a:rPr sz="1900" b="1">
                <a:solidFill>
                  <a:srgbClr val="1B2638"/>
                </a:solidFill>
                <a:latin typeface="Calibri"/>
              </a:rPr>
              <a:t>Steady-state:</a:t>
            </a:r>
            <a:r>
              <a:rPr sz="1900" b="0">
                <a:solidFill>
                  <a:srgbClr val="1B2638"/>
                </a:solidFill>
                <a:latin typeface="Calibri"/>
              </a:rPr>
              <a:t> analyse errors in the modulated part</a:t>
            </a:r>
          </a:p>
        </p:txBody>
      </p:sp>
      <p:sp>
        <p:nvSpPr>
          <p:cNvPr id="13" name="TextBox 12"/>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 · taxonomy after Danev, Zanetti &amp; Čapkun, ACM Computing Surveys 2012</a:t>
            </a:r>
          </a:p>
        </p:txBody>
      </p:sp>
      <p:sp>
        <p:nvSpPr>
          <p:cNvPr id="14" name="TextBox 13"/>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0E6E73"/>
                </a:solidFill>
                <a:latin typeface="Calibri"/>
              </a:rPr>
              <a:t>RELATED WORK · 1</a:t>
            </a:r>
          </a:p>
        </p:txBody>
      </p:sp>
      <p:sp>
        <p:nvSpPr>
          <p:cNvPr id="3" name="TextBox 2"/>
          <p:cNvSpPr txBox="1"/>
          <p:nvPr/>
        </p:nvSpPr>
        <p:spPr>
          <a:xfrm>
            <a:off x="812800" y="660400"/>
            <a:ext cx="10566400" cy="45085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Clock skew: every crystal ticks at its own rate</a:t>
            </a:r>
          </a:p>
        </p:txBody>
      </p:sp>
      <p:sp>
        <p:nvSpPr>
          <p:cNvPr id="4" name="Rectangle 3"/>
          <p:cNvSpPr/>
          <p:nvPr/>
        </p:nvSpPr>
        <p:spPr>
          <a:xfrm>
            <a:off x="812800" y="1174750"/>
            <a:ext cx="762000" cy="38100"/>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428750"/>
            <a:ext cx="4826000" cy="1599183"/>
          </a:xfrm>
          <a:prstGeom prst="rect">
            <a:avLst/>
          </a:prstGeom>
          <a:noFill/>
        </p:spPr>
        <p:txBody>
          <a:bodyPr wrap="square" lIns="0" rIns="0" tIns="0" bIns="0">
            <a:spAutoFit/>
          </a:bodyPr>
          <a:lstStyle/>
          <a:p>
            <a:pPr algn="l">
              <a:lnSpc>
                <a:spcPct val="118000"/>
              </a:lnSpc>
              <a:spcAft>
                <a:spcPts val="200"/>
              </a:spcAft>
            </a:pPr>
            <a:r>
              <a:rPr sz="1400" b="1">
                <a:solidFill>
                  <a:srgbClr val="B4531A"/>
                </a:solidFill>
                <a:latin typeface="Calibri"/>
              </a:rPr>
              <a:t>Kohno, Broido &amp; Claffy · IEEE TDSC 2005</a:t>
            </a:r>
          </a:p>
          <a:p>
            <a:pPr algn="l">
              <a:lnSpc>
                <a:spcPct val="118000"/>
              </a:lnSpc>
              <a:spcAft>
                <a:spcPts val="500"/>
              </a:spcAft>
            </a:pPr>
            <a:r>
              <a:rPr sz="2100" b="1">
                <a:solidFill>
                  <a:srgbClr val="1B2638"/>
                </a:solidFill>
                <a:latin typeface="Calibri"/>
              </a:rPr>
              <a:t>Remote physical device fingerprinting</a:t>
            </a:r>
          </a:p>
          <a:p>
            <a:pPr algn="l">
              <a:lnSpc>
                <a:spcPct val="118000"/>
              </a:lnSpc>
              <a:spcAft>
                <a:spcPts val="400"/>
              </a:spcAft>
            </a:pPr>
            <a:r>
              <a:rPr sz="1900" b="0">
                <a:solidFill>
                  <a:srgbClr val="3F4A5C"/>
                </a:solidFill>
                <a:latin typeface="Calibri"/>
              </a:rPr>
              <a:t>•  Clock skew from TCP timestamps</a:t>
            </a:r>
          </a:p>
          <a:p>
            <a:pPr algn="l">
              <a:lnSpc>
                <a:spcPct val="118000"/>
              </a:lnSpc>
              <a:spcAft>
                <a:spcPts val="400"/>
              </a:spcAft>
            </a:pPr>
            <a:r>
              <a:rPr sz="1900" b="0">
                <a:solidFill>
                  <a:srgbClr val="3F4A5C"/>
                </a:solidFill>
                <a:latin typeface="Calibri"/>
              </a:rPr>
              <a:t>•  Stable per device, measured remotely</a:t>
            </a:r>
          </a:p>
        </p:txBody>
      </p:sp>
      <p:sp>
        <p:nvSpPr>
          <p:cNvPr id="6" name="TextBox 5"/>
          <p:cNvSpPr txBox="1"/>
          <p:nvPr/>
        </p:nvSpPr>
        <p:spPr>
          <a:xfrm>
            <a:off x="812800" y="3193034"/>
            <a:ext cx="4826000" cy="1284478"/>
          </a:xfrm>
          <a:prstGeom prst="rect">
            <a:avLst/>
          </a:prstGeom>
          <a:noFill/>
        </p:spPr>
        <p:txBody>
          <a:bodyPr wrap="square" lIns="0" rIns="0" tIns="0" bIns="0">
            <a:spAutoFit/>
          </a:bodyPr>
          <a:lstStyle/>
          <a:p>
            <a:pPr algn="l">
              <a:lnSpc>
                <a:spcPct val="118000"/>
              </a:lnSpc>
              <a:spcAft>
                <a:spcPts val="200"/>
              </a:spcAft>
            </a:pPr>
            <a:r>
              <a:rPr sz="1400" b="1">
                <a:solidFill>
                  <a:srgbClr val="B4531A"/>
                </a:solidFill>
                <a:latin typeface="Calibri"/>
              </a:rPr>
              <a:t>Jana &amp; Kasera · IEEE TMC 2010</a:t>
            </a:r>
          </a:p>
          <a:p>
            <a:pPr algn="l">
              <a:lnSpc>
                <a:spcPct val="118000"/>
              </a:lnSpc>
              <a:spcAft>
                <a:spcPts val="500"/>
              </a:spcAft>
            </a:pPr>
            <a:r>
              <a:rPr sz="2100" b="1">
                <a:solidFill>
                  <a:srgbClr val="1B2638"/>
                </a:solidFill>
                <a:latin typeface="Calibri"/>
              </a:rPr>
              <a:t>Rogue access-point detection</a:t>
            </a:r>
          </a:p>
          <a:p>
            <a:pPr algn="l">
              <a:lnSpc>
                <a:spcPct val="118000"/>
              </a:lnSpc>
              <a:spcAft>
                <a:spcPts val="400"/>
              </a:spcAft>
            </a:pPr>
            <a:r>
              <a:rPr sz="1900" b="0">
                <a:solidFill>
                  <a:srgbClr val="3F4A5C"/>
                </a:solidFill>
                <a:latin typeface="Calibri"/>
              </a:rPr>
              <a:t>•  Skew from Wi-Fi beacon timestamps</a:t>
            </a:r>
          </a:p>
          <a:p>
            <a:pPr algn="l">
              <a:lnSpc>
                <a:spcPct val="118000"/>
              </a:lnSpc>
              <a:spcAft>
                <a:spcPts val="400"/>
              </a:spcAft>
            </a:pPr>
            <a:r>
              <a:rPr sz="1900" b="0">
                <a:solidFill>
                  <a:srgbClr val="3F4A5C"/>
                </a:solidFill>
                <a:latin typeface="Calibri"/>
              </a:rPr>
              <a:t>•  Catches an AP copying a real one</a:t>
            </a:r>
          </a:p>
        </p:txBody>
      </p:sp>
      <p:sp>
        <p:nvSpPr>
          <p:cNvPr id="7" name="Rounded Rectangle 6"/>
          <p:cNvSpPr/>
          <p:nvPr/>
        </p:nvSpPr>
        <p:spPr>
          <a:xfrm>
            <a:off x="812800" y="5016500"/>
            <a:ext cx="4826000" cy="798068"/>
          </a:xfrm>
          <a:prstGeom prst="roundRect">
            <a:avLst>
              <a:gd name="adj" fmla="val 7956"/>
            </a:avLst>
          </a:prstGeom>
          <a:solidFill>
            <a:srgbClr val="E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800" y="5016500"/>
            <a:ext cx="50800" cy="798068"/>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5130800"/>
            <a:ext cx="4419600" cy="620268"/>
          </a:xfrm>
          <a:prstGeom prst="rect">
            <a:avLst/>
          </a:prstGeom>
          <a:noFill/>
        </p:spPr>
        <p:txBody>
          <a:bodyPr wrap="square" lIns="0" rIns="0" tIns="0" bIns="0">
            <a:spAutoFit/>
          </a:bodyPr>
          <a:lstStyle/>
          <a:p>
            <a:pPr algn="l">
              <a:lnSpc>
                <a:spcPct val="118000"/>
              </a:lnSpc>
              <a:spcAft>
                <a:spcPts val="400"/>
              </a:spcAft>
            </a:pPr>
            <a:r>
              <a:rPr sz="1900" b="1">
                <a:solidFill>
                  <a:srgbClr val="1B2638"/>
                </a:solidFill>
                <a:latin typeface="Calibri"/>
              </a:rPr>
              <a:t>Takeaway:</a:t>
            </a:r>
            <a:r>
              <a:rPr sz="1900" b="0">
                <a:solidFill>
                  <a:srgbClr val="1B2638"/>
                </a:solidFill>
                <a:latin typeface="Calibri"/>
              </a:rPr>
              <a:t> timing alone carries identity, but needs long observation.</a:t>
            </a:r>
          </a:p>
        </p:txBody>
      </p:sp>
      <p:pic>
        <p:nvPicPr>
          <p:cNvPr id="10" name="Picture 9" descr="fig_clockskew.png"/>
          <p:cNvPicPr>
            <a:picLocks noChangeAspect="1"/>
          </p:cNvPicPr>
          <p:nvPr/>
        </p:nvPicPr>
        <p:blipFill>
          <a:blip r:embed="rId2"/>
          <a:stretch>
            <a:fillRect/>
          </a:stretch>
        </p:blipFill>
        <p:spPr>
          <a:xfrm>
            <a:off x="5969000" y="1810632"/>
            <a:ext cx="5410200" cy="3649484"/>
          </a:xfrm>
          <a:prstGeom prst="rect">
            <a:avLst/>
          </a:prstGeom>
        </p:spPr>
      </p:pic>
      <p:sp>
        <p:nvSpPr>
          <p:cNvPr id="11" name="TextBox 10"/>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a:t>
            </a:r>
          </a:p>
        </p:txBody>
      </p:sp>
      <p:sp>
        <p:nvSpPr>
          <p:cNvPr id="12" name="TextBox 11"/>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0E6E73"/>
                </a:solidFill>
                <a:latin typeface="Calibri"/>
              </a:rPr>
              <a:t>RELATED WORK · 2</a:t>
            </a:r>
          </a:p>
        </p:txBody>
      </p:sp>
      <p:sp>
        <p:nvSpPr>
          <p:cNvPr id="3" name="TextBox 2"/>
          <p:cNvSpPr txBox="1"/>
          <p:nvPr/>
        </p:nvSpPr>
        <p:spPr>
          <a:xfrm>
            <a:off x="812800" y="660400"/>
            <a:ext cx="10566400" cy="45085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Turn-on transients</a:t>
            </a:r>
          </a:p>
        </p:txBody>
      </p:sp>
      <p:sp>
        <p:nvSpPr>
          <p:cNvPr id="4" name="Rectangle 3"/>
          <p:cNvSpPr/>
          <p:nvPr/>
        </p:nvSpPr>
        <p:spPr>
          <a:xfrm>
            <a:off x="812800" y="1174750"/>
            <a:ext cx="762000" cy="38100"/>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428750"/>
            <a:ext cx="4826000" cy="1599183"/>
          </a:xfrm>
          <a:prstGeom prst="rect">
            <a:avLst/>
          </a:prstGeom>
          <a:noFill/>
        </p:spPr>
        <p:txBody>
          <a:bodyPr wrap="square" lIns="0" rIns="0" tIns="0" bIns="0">
            <a:spAutoFit/>
          </a:bodyPr>
          <a:lstStyle/>
          <a:p>
            <a:pPr algn="l">
              <a:lnSpc>
                <a:spcPct val="118000"/>
              </a:lnSpc>
              <a:spcAft>
                <a:spcPts val="200"/>
              </a:spcAft>
            </a:pPr>
            <a:r>
              <a:rPr sz="1400" b="1">
                <a:solidFill>
                  <a:srgbClr val="B4531A"/>
                </a:solidFill>
                <a:latin typeface="Calibri"/>
              </a:rPr>
              <a:t>Ureten &amp; Serinken · Canadian J. ECE 2007</a:t>
            </a:r>
          </a:p>
          <a:p>
            <a:pPr algn="l">
              <a:lnSpc>
                <a:spcPct val="118000"/>
              </a:lnSpc>
              <a:spcAft>
                <a:spcPts val="500"/>
              </a:spcAft>
            </a:pPr>
            <a:r>
              <a:rPr sz="2100" b="1">
                <a:solidFill>
                  <a:srgbClr val="1B2638"/>
                </a:solidFill>
                <a:latin typeface="Calibri"/>
              </a:rPr>
              <a:t>Wireless security through RF fingerprinting</a:t>
            </a:r>
          </a:p>
          <a:p>
            <a:pPr algn="l">
              <a:lnSpc>
                <a:spcPct val="118000"/>
              </a:lnSpc>
              <a:spcAft>
                <a:spcPts val="400"/>
              </a:spcAft>
            </a:pPr>
            <a:r>
              <a:rPr sz="1900" b="0">
                <a:solidFill>
                  <a:srgbClr val="3F4A5C"/>
                </a:solidFill>
                <a:latin typeface="Calibri"/>
              </a:rPr>
              <a:t>•  Find where the transient starts</a:t>
            </a:r>
          </a:p>
          <a:p>
            <a:pPr algn="l">
              <a:lnSpc>
                <a:spcPct val="118000"/>
              </a:lnSpc>
              <a:spcAft>
                <a:spcPts val="400"/>
              </a:spcAft>
            </a:pPr>
            <a:r>
              <a:rPr sz="1900" b="0">
                <a:solidFill>
                  <a:srgbClr val="3F4A5C"/>
                </a:solidFill>
                <a:latin typeface="Calibri"/>
              </a:rPr>
              <a:t>•  Classify its shape with a neural network</a:t>
            </a:r>
          </a:p>
        </p:txBody>
      </p:sp>
      <p:sp>
        <p:nvSpPr>
          <p:cNvPr id="6" name="TextBox 5"/>
          <p:cNvSpPr txBox="1"/>
          <p:nvPr/>
        </p:nvSpPr>
        <p:spPr>
          <a:xfrm>
            <a:off x="812800" y="3193034"/>
            <a:ext cx="4826000" cy="1284478"/>
          </a:xfrm>
          <a:prstGeom prst="rect">
            <a:avLst/>
          </a:prstGeom>
          <a:noFill/>
        </p:spPr>
        <p:txBody>
          <a:bodyPr wrap="square" lIns="0" rIns="0" tIns="0" bIns="0">
            <a:spAutoFit/>
          </a:bodyPr>
          <a:lstStyle/>
          <a:p>
            <a:pPr algn="l">
              <a:lnSpc>
                <a:spcPct val="118000"/>
              </a:lnSpc>
              <a:spcAft>
                <a:spcPts val="200"/>
              </a:spcAft>
            </a:pPr>
            <a:r>
              <a:rPr sz="1400" b="1">
                <a:solidFill>
                  <a:srgbClr val="B4531A"/>
                </a:solidFill>
                <a:latin typeface="Calibri"/>
              </a:rPr>
              <a:t>Danev &amp; Čapkun · ACM/IEEE IPSN 2009</a:t>
            </a:r>
          </a:p>
          <a:p>
            <a:pPr algn="l">
              <a:lnSpc>
                <a:spcPct val="118000"/>
              </a:lnSpc>
              <a:spcAft>
                <a:spcPts val="500"/>
              </a:spcAft>
            </a:pPr>
            <a:r>
              <a:rPr sz="2100" b="1">
                <a:solidFill>
                  <a:srgbClr val="1B2638"/>
                </a:solidFill>
                <a:latin typeface="Calibri"/>
              </a:rPr>
              <a:t>Identifying identical sensor nodes</a:t>
            </a:r>
          </a:p>
          <a:p>
            <a:pPr algn="l">
              <a:lnSpc>
                <a:spcPct val="118000"/>
              </a:lnSpc>
              <a:spcAft>
                <a:spcPts val="400"/>
              </a:spcAft>
            </a:pPr>
            <a:r>
              <a:rPr sz="1900" b="0">
                <a:solidFill>
                  <a:srgbClr val="3F4A5C"/>
                </a:solidFill>
                <a:latin typeface="Calibri"/>
              </a:rPr>
              <a:t>•  IEEE 802.15.4 nodes told apart</a:t>
            </a:r>
          </a:p>
          <a:p>
            <a:pPr algn="l">
              <a:lnSpc>
                <a:spcPct val="118000"/>
              </a:lnSpc>
              <a:spcAft>
                <a:spcPts val="400"/>
              </a:spcAft>
            </a:pPr>
            <a:r>
              <a:rPr sz="1900" b="0">
                <a:solidFill>
                  <a:srgbClr val="3F4A5C"/>
                </a:solidFill>
                <a:latin typeface="Calibri"/>
              </a:rPr>
              <a:t>•  High-rate oscilloscope in the lab</a:t>
            </a:r>
          </a:p>
        </p:txBody>
      </p:sp>
      <p:sp>
        <p:nvSpPr>
          <p:cNvPr id="7" name="Rounded Rectangle 6"/>
          <p:cNvSpPr/>
          <p:nvPr/>
        </p:nvSpPr>
        <p:spPr>
          <a:xfrm>
            <a:off x="812800" y="5016500"/>
            <a:ext cx="4826000" cy="798068"/>
          </a:xfrm>
          <a:prstGeom prst="roundRect">
            <a:avLst>
              <a:gd name="adj" fmla="val 7956"/>
            </a:avLst>
          </a:prstGeom>
          <a:solidFill>
            <a:srgbClr val="E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800" y="5016500"/>
            <a:ext cx="50800" cy="798068"/>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5130800"/>
            <a:ext cx="4419600" cy="620268"/>
          </a:xfrm>
          <a:prstGeom prst="rect">
            <a:avLst/>
          </a:prstGeom>
          <a:noFill/>
        </p:spPr>
        <p:txBody>
          <a:bodyPr wrap="square" lIns="0" rIns="0" tIns="0" bIns="0">
            <a:spAutoFit/>
          </a:bodyPr>
          <a:lstStyle/>
          <a:p>
            <a:pPr algn="l">
              <a:lnSpc>
                <a:spcPct val="118000"/>
              </a:lnSpc>
              <a:spcAft>
                <a:spcPts val="400"/>
              </a:spcAft>
            </a:pPr>
            <a:r>
              <a:rPr sz="1900" b="1">
                <a:solidFill>
                  <a:srgbClr val="1B2638"/>
                </a:solidFill>
                <a:latin typeface="Calibri"/>
              </a:rPr>
              <a:t>Limitation:</a:t>
            </a:r>
            <a:r>
              <a:rPr sz="1900" b="0">
                <a:solidFill>
                  <a:srgbClr val="1B2638"/>
                </a:solidFill>
                <a:latin typeface="Calibri"/>
              </a:rPr>
              <a:t> microsecond transients need very fast sampling.</a:t>
            </a:r>
          </a:p>
        </p:txBody>
      </p:sp>
      <p:pic>
        <p:nvPicPr>
          <p:cNvPr id="10" name="Picture 9" descr="fig_transient.png"/>
          <p:cNvPicPr>
            <a:picLocks noChangeAspect="1"/>
          </p:cNvPicPr>
          <p:nvPr/>
        </p:nvPicPr>
        <p:blipFill>
          <a:blip r:embed="rId2"/>
          <a:stretch>
            <a:fillRect/>
          </a:stretch>
        </p:blipFill>
        <p:spPr>
          <a:xfrm>
            <a:off x="5969000" y="1758270"/>
            <a:ext cx="5410200" cy="3754208"/>
          </a:xfrm>
          <a:prstGeom prst="rect">
            <a:avLst/>
          </a:prstGeom>
        </p:spPr>
      </p:pic>
      <p:sp>
        <p:nvSpPr>
          <p:cNvPr id="11" name="TextBox 10"/>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a:t>
            </a:r>
          </a:p>
        </p:txBody>
      </p:sp>
      <p:sp>
        <p:nvSpPr>
          <p:cNvPr id="12" name="TextBox 11"/>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0E6E73"/>
                </a:solidFill>
                <a:latin typeface="Calibri"/>
              </a:rPr>
              <a:t>RELATED WORK · 3</a:t>
            </a:r>
          </a:p>
        </p:txBody>
      </p:sp>
      <p:sp>
        <p:nvSpPr>
          <p:cNvPr id="3" name="TextBox 2"/>
          <p:cNvSpPr txBox="1"/>
          <p:nvPr/>
        </p:nvSpPr>
        <p:spPr>
          <a:xfrm>
            <a:off x="812800" y="660400"/>
            <a:ext cx="10566400" cy="45085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Modulation errors: PARADIS</a:t>
            </a:r>
          </a:p>
        </p:txBody>
      </p:sp>
      <p:sp>
        <p:nvSpPr>
          <p:cNvPr id="4" name="Rectangle 3"/>
          <p:cNvSpPr/>
          <p:nvPr/>
        </p:nvSpPr>
        <p:spPr>
          <a:xfrm>
            <a:off x="812800" y="1174750"/>
            <a:ext cx="762000" cy="38100"/>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428750"/>
            <a:ext cx="4826000" cy="2554986"/>
          </a:xfrm>
          <a:prstGeom prst="rect">
            <a:avLst/>
          </a:prstGeom>
          <a:noFill/>
        </p:spPr>
        <p:txBody>
          <a:bodyPr wrap="square" lIns="0" rIns="0" tIns="0" bIns="0">
            <a:spAutoFit/>
          </a:bodyPr>
          <a:lstStyle/>
          <a:p>
            <a:pPr algn="l">
              <a:lnSpc>
                <a:spcPct val="118000"/>
              </a:lnSpc>
              <a:spcAft>
                <a:spcPts val="200"/>
              </a:spcAft>
            </a:pPr>
            <a:r>
              <a:rPr sz="1400" b="1">
                <a:solidFill>
                  <a:srgbClr val="B4531A"/>
                </a:solidFill>
                <a:latin typeface="Calibri"/>
              </a:rPr>
              <a:t>Brik, Banerjee, Gruteser &amp; Oh · ACM MobiCom 2008</a:t>
            </a:r>
          </a:p>
          <a:p>
            <a:pPr algn="l">
              <a:lnSpc>
                <a:spcPct val="118000"/>
              </a:lnSpc>
              <a:spcAft>
                <a:spcPts val="500"/>
              </a:spcAft>
            </a:pPr>
            <a:r>
              <a:rPr sz="2100" b="1">
                <a:solidFill>
                  <a:srgbClr val="1B2638"/>
                </a:solidFill>
                <a:latin typeface="Calibri"/>
              </a:rPr>
              <a:t>Radiometric signatures of 802.11b cards</a:t>
            </a:r>
          </a:p>
          <a:p>
            <a:pPr algn="l">
              <a:lnSpc>
                <a:spcPct val="118000"/>
              </a:lnSpc>
              <a:spcAft>
                <a:spcPts val="400"/>
              </a:spcAft>
            </a:pPr>
            <a:r>
              <a:rPr sz="1900" b="0">
                <a:solidFill>
                  <a:srgbClr val="3F4A5C"/>
                </a:solidFill>
                <a:latin typeface="Calibri"/>
              </a:rPr>
              <a:t>•  Frequency error, SYNC correlation, I/Q offset</a:t>
            </a:r>
          </a:p>
          <a:p>
            <a:pPr algn="l">
              <a:lnSpc>
                <a:spcPct val="118000"/>
              </a:lnSpc>
              <a:spcAft>
                <a:spcPts val="400"/>
              </a:spcAft>
            </a:pPr>
            <a:r>
              <a:rPr sz="1900" b="0">
                <a:solidFill>
                  <a:srgbClr val="3F4A5C"/>
                </a:solidFill>
                <a:latin typeface="Calibri"/>
              </a:rPr>
              <a:t>•  Magnitude and phase error</a:t>
            </a:r>
          </a:p>
          <a:p>
            <a:pPr algn="l">
              <a:lnSpc>
                <a:spcPct val="118000"/>
              </a:lnSpc>
              <a:spcAft>
                <a:spcPts val="400"/>
              </a:spcAft>
            </a:pPr>
            <a:r>
              <a:rPr sz="1900" b="0">
                <a:solidFill>
                  <a:srgbClr val="3F4A5C"/>
                </a:solidFill>
                <a:latin typeface="Calibri"/>
              </a:rPr>
              <a:t>•  k-NN and SVM classifiers</a:t>
            </a:r>
          </a:p>
          <a:p>
            <a:pPr algn="l">
              <a:lnSpc>
                <a:spcPct val="118000"/>
              </a:lnSpc>
              <a:spcAft>
                <a:spcPts val="400"/>
              </a:spcAft>
            </a:pPr>
            <a:r>
              <a:rPr sz="1900" b="0">
                <a:solidFill>
                  <a:srgbClr val="3F4A5C"/>
                </a:solidFill>
                <a:latin typeface="Calibri"/>
              </a:rPr>
              <a:t>•  Vector signal analyser for capture</a:t>
            </a:r>
          </a:p>
        </p:txBody>
      </p:sp>
      <p:sp>
        <p:nvSpPr>
          <p:cNvPr id="6" name="Rounded Rectangle 5"/>
          <p:cNvSpPr/>
          <p:nvPr/>
        </p:nvSpPr>
        <p:spPr>
          <a:xfrm>
            <a:off x="812800" y="5016500"/>
            <a:ext cx="4826000" cy="798068"/>
          </a:xfrm>
          <a:prstGeom prst="roundRect">
            <a:avLst>
              <a:gd name="adj" fmla="val 7956"/>
            </a:avLst>
          </a:prstGeom>
          <a:solidFill>
            <a:srgbClr val="E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800" y="5016500"/>
            <a:ext cx="50800" cy="798068"/>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5130800"/>
            <a:ext cx="4419600" cy="620268"/>
          </a:xfrm>
          <a:prstGeom prst="rect">
            <a:avLst/>
          </a:prstGeom>
          <a:noFill/>
        </p:spPr>
        <p:txBody>
          <a:bodyPr wrap="square" lIns="0" rIns="0" tIns="0" bIns="0">
            <a:spAutoFit/>
          </a:bodyPr>
          <a:lstStyle/>
          <a:p>
            <a:pPr algn="l">
              <a:lnSpc>
                <a:spcPct val="118000"/>
              </a:lnSpc>
              <a:spcAft>
                <a:spcPts val="400"/>
              </a:spcAft>
            </a:pPr>
            <a:r>
              <a:rPr sz="1900" b="1">
                <a:solidFill>
                  <a:srgbClr val="1B2638"/>
                </a:solidFill>
                <a:latin typeface="Calibri"/>
              </a:rPr>
              <a:t>Strength:</a:t>
            </a:r>
            <a:r>
              <a:rPr sz="1900" b="0">
                <a:solidFill>
                  <a:srgbClr val="1B2638"/>
                </a:solidFill>
                <a:latin typeface="Calibri"/>
              </a:rPr>
              <a:t> whole frame.  </a:t>
            </a:r>
            <a:r>
              <a:rPr sz="1900" b="1">
                <a:solidFill>
                  <a:srgbClr val="1B2638"/>
                </a:solidFill>
                <a:latin typeface="Calibri"/>
              </a:rPr>
              <a:t>Limit:</a:t>
            </a:r>
            <a:r>
              <a:rPr sz="1900" b="0">
                <a:solidFill>
                  <a:srgbClr val="1B2638"/>
                </a:solidFill>
                <a:latin typeface="Calibri"/>
              </a:rPr>
              <a:t> lab-grade equipment.</a:t>
            </a:r>
          </a:p>
        </p:txBody>
      </p:sp>
      <p:pic>
        <p:nvPicPr>
          <p:cNvPr id="9" name="Picture 8" descr="fig_constellation.png"/>
          <p:cNvPicPr>
            <a:picLocks noChangeAspect="1"/>
          </p:cNvPicPr>
          <p:nvPr/>
        </p:nvPicPr>
        <p:blipFill>
          <a:blip r:embed="rId2"/>
          <a:stretch>
            <a:fillRect/>
          </a:stretch>
        </p:blipFill>
        <p:spPr>
          <a:xfrm>
            <a:off x="6618250" y="1428750"/>
            <a:ext cx="4111698" cy="4413250"/>
          </a:xfrm>
          <a:prstGeom prst="rect">
            <a:avLst/>
          </a:prstGeom>
        </p:spPr>
      </p:pic>
      <p:sp>
        <p:nvSpPr>
          <p:cNvPr id="10" name="TextBox 9"/>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a:t>
            </a:r>
          </a:p>
        </p:txBody>
      </p:sp>
      <p:sp>
        <p:nvSpPr>
          <p:cNvPr id="11" name="TextBox 10"/>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0E6E73"/>
                </a:solidFill>
                <a:latin typeface="Calibri"/>
              </a:rPr>
              <a:t>RELATED WORK · 4</a:t>
            </a:r>
          </a:p>
        </p:txBody>
      </p:sp>
      <p:sp>
        <p:nvSpPr>
          <p:cNvPr id="3" name="TextBox 2"/>
          <p:cNvSpPr txBox="1"/>
          <p:nvPr/>
        </p:nvSpPr>
        <p:spPr>
          <a:xfrm>
            <a:off x="812800" y="660400"/>
            <a:ext cx="10566400" cy="45085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Deep learning on raw I/Q samples</a:t>
            </a:r>
          </a:p>
        </p:txBody>
      </p:sp>
      <p:sp>
        <p:nvSpPr>
          <p:cNvPr id="4" name="Rectangle 3"/>
          <p:cNvSpPr/>
          <p:nvPr/>
        </p:nvSpPr>
        <p:spPr>
          <a:xfrm>
            <a:off x="812800" y="1174750"/>
            <a:ext cx="762000" cy="38100"/>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428750"/>
            <a:ext cx="3302000" cy="868171"/>
          </a:xfrm>
          <a:prstGeom prst="rect">
            <a:avLst/>
          </a:prstGeom>
          <a:noFill/>
        </p:spPr>
        <p:txBody>
          <a:bodyPr wrap="square" lIns="0" rIns="0" tIns="0" bIns="0">
            <a:spAutoFit/>
          </a:bodyPr>
          <a:lstStyle/>
          <a:p>
            <a:pPr algn="l">
              <a:lnSpc>
                <a:spcPct val="118000"/>
              </a:lnSpc>
              <a:spcAft>
                <a:spcPts val="300"/>
              </a:spcAft>
            </a:pPr>
            <a:r>
              <a:rPr sz="1400" b="1">
                <a:solidFill>
                  <a:srgbClr val="B4531A"/>
                </a:solidFill>
                <a:latin typeface="Calibri"/>
              </a:rPr>
              <a:t>Merchant et al. · IEEE JSTSP 2018</a:t>
            </a:r>
          </a:p>
          <a:p>
            <a:pPr algn="l">
              <a:lnSpc>
                <a:spcPct val="118000"/>
              </a:lnSpc>
              <a:spcAft>
                <a:spcPts val="400"/>
              </a:spcAft>
            </a:pPr>
            <a:r>
              <a:rPr sz="1900" b="0">
                <a:solidFill>
                  <a:srgbClr val="3F4A5C"/>
                </a:solidFill>
                <a:latin typeface="Calibri"/>
              </a:rPr>
              <a:t>CNN on the error signal of ZigBee devices</a:t>
            </a:r>
          </a:p>
        </p:txBody>
      </p:sp>
      <p:sp>
        <p:nvSpPr>
          <p:cNvPr id="6" name="TextBox 5"/>
          <p:cNvSpPr txBox="1"/>
          <p:nvPr/>
        </p:nvSpPr>
        <p:spPr>
          <a:xfrm>
            <a:off x="4400550" y="1428750"/>
            <a:ext cx="3302000" cy="868171"/>
          </a:xfrm>
          <a:prstGeom prst="rect">
            <a:avLst/>
          </a:prstGeom>
          <a:noFill/>
        </p:spPr>
        <p:txBody>
          <a:bodyPr wrap="square" lIns="0" rIns="0" tIns="0" bIns="0">
            <a:spAutoFit/>
          </a:bodyPr>
          <a:lstStyle/>
          <a:p>
            <a:pPr algn="l">
              <a:lnSpc>
                <a:spcPct val="118000"/>
              </a:lnSpc>
              <a:spcAft>
                <a:spcPts val="300"/>
              </a:spcAft>
            </a:pPr>
            <a:r>
              <a:rPr sz="1400" b="1">
                <a:solidFill>
                  <a:srgbClr val="B4531A"/>
                </a:solidFill>
                <a:latin typeface="Calibri"/>
              </a:rPr>
              <a:t>Riyaz et al. · IEEE Comm. Mag. 2018</a:t>
            </a:r>
          </a:p>
          <a:p>
            <a:pPr algn="l">
              <a:lnSpc>
                <a:spcPct val="118000"/>
              </a:lnSpc>
              <a:spcAft>
                <a:spcPts val="400"/>
              </a:spcAft>
            </a:pPr>
            <a:r>
              <a:rPr sz="1900" b="0">
                <a:solidFill>
                  <a:srgbClr val="3F4A5C"/>
                </a:solidFill>
                <a:latin typeface="Calibri"/>
              </a:rPr>
              <a:t>CNN learns features from raw I/Q of SDR radios</a:t>
            </a:r>
          </a:p>
        </p:txBody>
      </p:sp>
      <p:sp>
        <p:nvSpPr>
          <p:cNvPr id="7" name="TextBox 6"/>
          <p:cNvSpPr txBox="1"/>
          <p:nvPr/>
        </p:nvSpPr>
        <p:spPr>
          <a:xfrm>
            <a:off x="7988300" y="1428750"/>
            <a:ext cx="3302000" cy="1077976"/>
          </a:xfrm>
          <a:prstGeom prst="rect">
            <a:avLst/>
          </a:prstGeom>
          <a:noFill/>
        </p:spPr>
        <p:txBody>
          <a:bodyPr wrap="square" lIns="0" rIns="0" tIns="0" bIns="0">
            <a:spAutoFit/>
          </a:bodyPr>
          <a:lstStyle/>
          <a:p>
            <a:pPr algn="l">
              <a:lnSpc>
                <a:spcPct val="118000"/>
              </a:lnSpc>
              <a:spcAft>
                <a:spcPts val="300"/>
              </a:spcAft>
            </a:pPr>
            <a:r>
              <a:rPr sz="1400" b="1">
                <a:solidFill>
                  <a:srgbClr val="B4531A"/>
                </a:solidFill>
                <a:latin typeface="Calibri"/>
              </a:rPr>
              <a:t>Sankhe et al. · INFOCOM 2019 (ORACLE)</a:t>
            </a:r>
          </a:p>
          <a:p>
            <a:pPr algn="l">
              <a:lnSpc>
                <a:spcPct val="118000"/>
              </a:lnSpc>
              <a:spcAft>
                <a:spcPts val="400"/>
              </a:spcAft>
            </a:pPr>
            <a:r>
              <a:rPr sz="1900" b="0">
                <a:solidFill>
                  <a:srgbClr val="3F4A5C"/>
                </a:solidFill>
                <a:latin typeface="Calibri"/>
              </a:rPr>
              <a:t>Same-model USRP radios; injected impairments help</a:t>
            </a:r>
          </a:p>
        </p:txBody>
      </p:sp>
      <p:pic>
        <p:nvPicPr>
          <p:cNvPr id="8" name="Picture 7" descr="fig_cnn.png"/>
          <p:cNvPicPr>
            <a:picLocks noChangeAspect="1"/>
          </p:cNvPicPr>
          <p:nvPr/>
        </p:nvPicPr>
        <p:blipFill>
          <a:blip r:embed="rId2"/>
          <a:stretch>
            <a:fillRect/>
          </a:stretch>
        </p:blipFill>
        <p:spPr>
          <a:xfrm>
            <a:off x="3174224" y="2381250"/>
            <a:ext cx="5843551" cy="2032000"/>
          </a:xfrm>
          <a:prstGeom prst="rect">
            <a:avLst/>
          </a:prstGeom>
        </p:spPr>
      </p:pic>
      <p:sp>
        <p:nvSpPr>
          <p:cNvPr id="9" name="Rounded Rectangle 8"/>
          <p:cNvSpPr/>
          <p:nvPr/>
        </p:nvSpPr>
        <p:spPr>
          <a:xfrm>
            <a:off x="812800" y="5397500"/>
            <a:ext cx="5143500" cy="798068"/>
          </a:xfrm>
          <a:prstGeom prst="roundRect">
            <a:avLst>
              <a:gd name="adj" fmla="val 7956"/>
            </a:avLst>
          </a:prstGeom>
          <a:solidFill>
            <a:srgbClr val="E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2800" y="5397500"/>
            <a:ext cx="50800" cy="798068"/>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6000" y="5511800"/>
            <a:ext cx="4737100" cy="620268"/>
          </a:xfrm>
          <a:prstGeom prst="rect">
            <a:avLst/>
          </a:prstGeom>
          <a:noFill/>
        </p:spPr>
        <p:txBody>
          <a:bodyPr wrap="square" lIns="0" rIns="0" tIns="0" bIns="0">
            <a:spAutoFit/>
          </a:bodyPr>
          <a:lstStyle/>
          <a:p>
            <a:pPr algn="l">
              <a:lnSpc>
                <a:spcPct val="118000"/>
              </a:lnSpc>
              <a:spcAft>
                <a:spcPts val="400"/>
              </a:spcAft>
            </a:pPr>
            <a:r>
              <a:rPr sz="1900" b="1">
                <a:solidFill>
                  <a:srgbClr val="1B2638"/>
                </a:solidFill>
                <a:latin typeface="Calibri"/>
              </a:rPr>
              <a:t>Gain:</a:t>
            </a:r>
            <a:r>
              <a:rPr sz="1900" b="0">
                <a:solidFill>
                  <a:srgbClr val="1B2638"/>
                </a:solidFill>
                <a:latin typeface="Calibri"/>
              </a:rPr>
              <a:t> no hand-made features; high accuracy</a:t>
            </a:r>
          </a:p>
        </p:txBody>
      </p:sp>
      <p:sp>
        <p:nvSpPr>
          <p:cNvPr id="12" name="Rounded Rectangle 11"/>
          <p:cNvSpPr/>
          <p:nvPr/>
        </p:nvSpPr>
        <p:spPr>
          <a:xfrm>
            <a:off x="6235700" y="5397500"/>
            <a:ext cx="5143500" cy="798068"/>
          </a:xfrm>
          <a:prstGeom prst="roundRect">
            <a:avLst>
              <a:gd name="adj" fmla="val 7956"/>
            </a:avLst>
          </a:prstGeom>
          <a:solidFill>
            <a:srgbClr val="F6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5700" y="5397500"/>
            <a:ext cx="50800" cy="798068"/>
          </a:xfrm>
          <a:prstGeom prst="rect">
            <a:avLst/>
          </a:prstGeom>
          <a:solidFill>
            <a:srgbClr val="B45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8900" y="5511800"/>
            <a:ext cx="4737100" cy="620268"/>
          </a:xfrm>
          <a:prstGeom prst="rect">
            <a:avLst/>
          </a:prstGeom>
          <a:noFill/>
        </p:spPr>
        <p:txBody>
          <a:bodyPr wrap="square" lIns="0" rIns="0" tIns="0" bIns="0">
            <a:spAutoFit/>
          </a:bodyPr>
          <a:lstStyle/>
          <a:p>
            <a:pPr algn="l">
              <a:lnSpc>
                <a:spcPct val="118000"/>
              </a:lnSpc>
              <a:spcAft>
                <a:spcPts val="400"/>
              </a:spcAft>
            </a:pPr>
            <a:r>
              <a:rPr sz="1900" b="1">
                <a:solidFill>
                  <a:srgbClr val="1B2638"/>
                </a:solidFill>
                <a:latin typeface="Calibri"/>
              </a:rPr>
              <a:t>Cost:</a:t>
            </a:r>
            <a:r>
              <a:rPr sz="1900" b="0">
                <a:solidFill>
                  <a:srgbClr val="1B2638"/>
                </a:solidFill>
                <a:latin typeface="Calibri"/>
              </a:rPr>
              <a:t> SDR, large models, GPU; channel-sensitive</a:t>
            </a:r>
          </a:p>
        </p:txBody>
      </p:sp>
      <p:sp>
        <p:nvSpPr>
          <p:cNvPr id="15" name="TextBox 14"/>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a:t>
            </a:r>
          </a:p>
        </p:txBody>
      </p:sp>
      <p:sp>
        <p:nvSpPr>
          <p:cNvPr id="16" name="TextBox 15"/>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0E6E73"/>
                </a:solidFill>
                <a:latin typeface="Calibri"/>
              </a:rPr>
              <a:t>RELATED WORK · 5</a:t>
            </a:r>
          </a:p>
        </p:txBody>
      </p:sp>
      <p:sp>
        <p:nvSpPr>
          <p:cNvPr id="3" name="TextBox 2"/>
          <p:cNvSpPr txBox="1"/>
          <p:nvPr/>
        </p:nvSpPr>
        <p:spPr>
          <a:xfrm>
            <a:off x="812800" y="660400"/>
            <a:ext cx="10566400" cy="45085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The channel problem</a:t>
            </a:r>
          </a:p>
        </p:txBody>
      </p:sp>
      <p:sp>
        <p:nvSpPr>
          <p:cNvPr id="4" name="Rectangle 3"/>
          <p:cNvSpPr/>
          <p:nvPr/>
        </p:nvSpPr>
        <p:spPr>
          <a:xfrm>
            <a:off x="812800" y="1174750"/>
            <a:ext cx="762000" cy="38100"/>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428750"/>
            <a:ext cx="4826000" cy="2219452"/>
          </a:xfrm>
          <a:prstGeom prst="rect">
            <a:avLst/>
          </a:prstGeom>
          <a:noFill/>
        </p:spPr>
        <p:txBody>
          <a:bodyPr wrap="square" lIns="0" rIns="0" tIns="0" bIns="0">
            <a:spAutoFit/>
          </a:bodyPr>
          <a:lstStyle/>
          <a:p>
            <a:pPr algn="l">
              <a:lnSpc>
                <a:spcPct val="118000"/>
              </a:lnSpc>
              <a:spcAft>
                <a:spcPts val="200"/>
              </a:spcAft>
            </a:pPr>
            <a:r>
              <a:rPr sz="1400" b="1">
                <a:solidFill>
                  <a:srgbClr val="B4531A"/>
                </a:solidFill>
                <a:latin typeface="Calibri"/>
              </a:rPr>
              <a:t>Shen, Zhang, Marshall &amp; Cavallaro · IEEE TIFS 2022</a:t>
            </a:r>
          </a:p>
          <a:p>
            <a:pPr algn="l">
              <a:lnSpc>
                <a:spcPct val="118000"/>
              </a:lnSpc>
              <a:spcAft>
                <a:spcPts val="500"/>
              </a:spcAft>
            </a:pPr>
            <a:r>
              <a:rPr sz="2100" b="1">
                <a:solidFill>
                  <a:srgbClr val="1B2638"/>
                </a:solidFill>
                <a:latin typeface="Calibri"/>
              </a:rPr>
              <a:t>Channel-robust identification for LoRa</a:t>
            </a:r>
          </a:p>
          <a:p>
            <a:pPr algn="l">
              <a:lnSpc>
                <a:spcPct val="118000"/>
              </a:lnSpc>
              <a:spcAft>
                <a:spcPts val="400"/>
              </a:spcAft>
            </a:pPr>
            <a:r>
              <a:rPr sz="1900" b="0">
                <a:solidFill>
                  <a:srgbClr val="3F4A5C"/>
                </a:solidFill>
                <a:latin typeface="Calibri"/>
              </a:rPr>
              <a:t>•  Multipath can change the signal more than the device</a:t>
            </a:r>
          </a:p>
          <a:p>
            <a:pPr algn="l">
              <a:lnSpc>
                <a:spcPct val="118000"/>
              </a:lnSpc>
              <a:spcAft>
                <a:spcPts val="400"/>
              </a:spcAft>
            </a:pPr>
            <a:r>
              <a:rPr sz="1900" b="0">
                <a:solidFill>
                  <a:srgbClr val="3F4A5C"/>
                </a:solidFill>
                <a:latin typeface="Calibri"/>
              </a:rPr>
              <a:t>•  Channel-independent spectrogram</a:t>
            </a:r>
          </a:p>
          <a:p>
            <a:pPr algn="l">
              <a:lnSpc>
                <a:spcPct val="118000"/>
              </a:lnSpc>
              <a:spcAft>
                <a:spcPts val="400"/>
              </a:spcAft>
            </a:pPr>
            <a:r>
              <a:rPr sz="1900" b="0">
                <a:solidFill>
                  <a:srgbClr val="3F4A5C"/>
                </a:solidFill>
                <a:latin typeface="Calibri"/>
              </a:rPr>
              <a:t>•  Training with simulated channels</a:t>
            </a:r>
          </a:p>
        </p:txBody>
      </p:sp>
      <p:sp>
        <p:nvSpPr>
          <p:cNvPr id="6" name="Rounded Rectangle 5"/>
          <p:cNvSpPr/>
          <p:nvPr/>
        </p:nvSpPr>
        <p:spPr>
          <a:xfrm>
            <a:off x="812800" y="5016500"/>
            <a:ext cx="4826000" cy="798068"/>
          </a:xfrm>
          <a:prstGeom prst="roundRect">
            <a:avLst>
              <a:gd name="adj" fmla="val 7956"/>
            </a:avLst>
          </a:prstGeom>
          <a:solidFill>
            <a:srgbClr val="E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800" y="5016500"/>
            <a:ext cx="50800" cy="798068"/>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5130800"/>
            <a:ext cx="4419600" cy="620268"/>
          </a:xfrm>
          <a:prstGeom prst="rect">
            <a:avLst/>
          </a:prstGeom>
          <a:noFill/>
        </p:spPr>
        <p:txBody>
          <a:bodyPr wrap="square" lIns="0" rIns="0" tIns="0" bIns="0">
            <a:spAutoFit/>
          </a:bodyPr>
          <a:lstStyle/>
          <a:p>
            <a:pPr algn="l">
              <a:lnSpc>
                <a:spcPct val="118000"/>
              </a:lnSpc>
              <a:spcAft>
                <a:spcPts val="400"/>
              </a:spcAft>
            </a:pPr>
            <a:r>
              <a:rPr sz="1900" b="1">
                <a:solidFill>
                  <a:srgbClr val="1B2638"/>
                </a:solidFill>
                <a:latin typeface="Calibri"/>
              </a:rPr>
              <a:t>Lesson:</a:t>
            </a:r>
            <a:r>
              <a:rPr sz="1900" b="0">
                <a:solidFill>
                  <a:srgbClr val="1B2638"/>
                </a:solidFill>
                <a:latin typeface="Calibri"/>
              </a:rPr>
              <a:t> features must separate the device from the channel and the receiver.</a:t>
            </a:r>
          </a:p>
        </p:txBody>
      </p:sp>
      <p:pic>
        <p:nvPicPr>
          <p:cNvPr id="9" name="Picture 8" descr="fig_channel.png"/>
          <p:cNvPicPr>
            <a:picLocks noChangeAspect="1"/>
          </p:cNvPicPr>
          <p:nvPr/>
        </p:nvPicPr>
        <p:blipFill>
          <a:blip r:embed="rId2"/>
          <a:stretch>
            <a:fillRect/>
          </a:stretch>
        </p:blipFill>
        <p:spPr>
          <a:xfrm>
            <a:off x="5969000" y="1751718"/>
            <a:ext cx="5410200" cy="3767312"/>
          </a:xfrm>
          <a:prstGeom prst="rect">
            <a:avLst/>
          </a:prstGeom>
        </p:spPr>
      </p:pic>
      <p:sp>
        <p:nvSpPr>
          <p:cNvPr id="10" name="TextBox 9"/>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a:t>
            </a:r>
          </a:p>
        </p:txBody>
      </p:sp>
      <p:sp>
        <p:nvSpPr>
          <p:cNvPr id="11" name="TextBox 10"/>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0E6E73"/>
                </a:solidFill>
                <a:latin typeface="Calibri"/>
              </a:rPr>
              <a:t>RELATED WORK · 6</a:t>
            </a:r>
          </a:p>
        </p:txBody>
      </p:sp>
      <p:sp>
        <p:nvSpPr>
          <p:cNvPr id="3" name="TextBox 2"/>
          <p:cNvSpPr txBox="1"/>
          <p:nvPr/>
        </p:nvSpPr>
        <p:spPr>
          <a:xfrm>
            <a:off x="812800" y="660400"/>
            <a:ext cx="10566400" cy="45085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Rejecting the unknown attacker</a:t>
            </a:r>
          </a:p>
        </p:txBody>
      </p:sp>
      <p:sp>
        <p:nvSpPr>
          <p:cNvPr id="4" name="Rectangle 3"/>
          <p:cNvSpPr/>
          <p:nvPr/>
        </p:nvSpPr>
        <p:spPr>
          <a:xfrm>
            <a:off x="812800" y="1174750"/>
            <a:ext cx="762000" cy="38100"/>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428750"/>
            <a:ext cx="4826000" cy="948944"/>
          </a:xfrm>
          <a:prstGeom prst="rect">
            <a:avLst/>
          </a:prstGeom>
          <a:noFill/>
        </p:spPr>
        <p:txBody>
          <a:bodyPr wrap="square" lIns="0" rIns="0" tIns="0" bIns="0">
            <a:spAutoFit/>
          </a:bodyPr>
          <a:lstStyle/>
          <a:p>
            <a:pPr algn="l">
              <a:lnSpc>
                <a:spcPct val="118000"/>
              </a:lnSpc>
              <a:spcAft>
                <a:spcPts val="200"/>
              </a:spcAft>
            </a:pPr>
            <a:r>
              <a:rPr sz="1400" b="1">
                <a:solidFill>
                  <a:srgbClr val="B4531A"/>
                </a:solidFill>
                <a:latin typeface="Calibri"/>
              </a:rPr>
              <a:t>Schroff et al. CVPR 2015 · Hermans et al. 2017</a:t>
            </a:r>
          </a:p>
          <a:p>
            <a:pPr algn="l">
              <a:lnSpc>
                <a:spcPct val="118000"/>
              </a:lnSpc>
              <a:spcAft>
                <a:spcPts val="500"/>
              </a:spcAft>
            </a:pPr>
            <a:r>
              <a:rPr sz="2100" b="1">
                <a:solidFill>
                  <a:srgbClr val="1B2638"/>
                </a:solidFill>
                <a:latin typeface="Calibri"/>
              </a:rPr>
              <a:t>Metric learning</a:t>
            </a:r>
          </a:p>
          <a:p>
            <a:pPr algn="l">
              <a:lnSpc>
                <a:spcPct val="118000"/>
              </a:lnSpc>
              <a:spcAft>
                <a:spcPts val="400"/>
              </a:spcAft>
            </a:pPr>
            <a:r>
              <a:rPr sz="1900" b="0">
                <a:solidFill>
                  <a:srgbClr val="3F4A5C"/>
                </a:solidFill>
                <a:latin typeface="Calibri"/>
              </a:rPr>
              <a:t>•  Triplet loss: same device close, others far</a:t>
            </a:r>
          </a:p>
        </p:txBody>
      </p:sp>
      <p:sp>
        <p:nvSpPr>
          <p:cNvPr id="6" name="TextBox 5"/>
          <p:cNvSpPr txBox="1"/>
          <p:nvPr/>
        </p:nvSpPr>
        <p:spPr>
          <a:xfrm>
            <a:off x="812800" y="2542794"/>
            <a:ext cx="4826000" cy="1284478"/>
          </a:xfrm>
          <a:prstGeom prst="rect">
            <a:avLst/>
          </a:prstGeom>
          <a:noFill/>
        </p:spPr>
        <p:txBody>
          <a:bodyPr wrap="square" lIns="0" rIns="0" tIns="0" bIns="0">
            <a:spAutoFit/>
          </a:bodyPr>
          <a:lstStyle/>
          <a:p>
            <a:pPr algn="l">
              <a:lnSpc>
                <a:spcPct val="118000"/>
              </a:lnSpc>
              <a:spcAft>
                <a:spcPts val="200"/>
              </a:spcAft>
            </a:pPr>
            <a:r>
              <a:rPr sz="1400" b="1">
                <a:solidFill>
                  <a:srgbClr val="B4531A"/>
                </a:solidFill>
                <a:latin typeface="Calibri"/>
              </a:rPr>
              <a:t>Lee et al. NeurIPS 2018 · Ledoit &amp; Wolf 2004</a:t>
            </a:r>
          </a:p>
          <a:p>
            <a:pPr algn="l">
              <a:lnSpc>
                <a:spcPct val="118000"/>
              </a:lnSpc>
              <a:spcAft>
                <a:spcPts val="500"/>
              </a:spcAft>
            </a:pPr>
            <a:r>
              <a:rPr sz="2100" b="1">
                <a:solidFill>
                  <a:srgbClr val="1B2638"/>
                </a:solidFill>
                <a:latin typeface="Calibri"/>
              </a:rPr>
              <a:t>Mahalanobis distance</a:t>
            </a:r>
          </a:p>
          <a:p>
            <a:pPr algn="l">
              <a:lnSpc>
                <a:spcPct val="118000"/>
              </a:lnSpc>
              <a:spcAft>
                <a:spcPts val="400"/>
              </a:spcAft>
            </a:pPr>
            <a:r>
              <a:rPr sz="1900" b="0">
                <a:solidFill>
                  <a:srgbClr val="3F4A5C"/>
                </a:solidFill>
                <a:latin typeface="Calibri"/>
              </a:rPr>
              <a:t>•  Distance to each enrolled device</a:t>
            </a:r>
          </a:p>
          <a:p>
            <a:pPr algn="l">
              <a:lnSpc>
                <a:spcPct val="118000"/>
              </a:lnSpc>
              <a:spcAft>
                <a:spcPts val="400"/>
              </a:spcAft>
            </a:pPr>
            <a:r>
              <a:rPr sz="1900" b="0">
                <a:solidFill>
                  <a:srgbClr val="3F4A5C"/>
                </a:solidFill>
                <a:latin typeface="Calibri"/>
              </a:rPr>
              <a:t>•  Reject beyond a threshold</a:t>
            </a:r>
          </a:p>
        </p:txBody>
      </p:sp>
      <p:sp>
        <p:nvSpPr>
          <p:cNvPr id="7" name="Rounded Rectangle 6"/>
          <p:cNvSpPr/>
          <p:nvPr/>
        </p:nvSpPr>
        <p:spPr>
          <a:xfrm>
            <a:off x="812800" y="5016500"/>
            <a:ext cx="4826000" cy="798068"/>
          </a:xfrm>
          <a:prstGeom prst="roundRect">
            <a:avLst>
              <a:gd name="adj" fmla="val 7956"/>
            </a:avLst>
          </a:prstGeom>
          <a:solidFill>
            <a:srgbClr val="E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800" y="5016500"/>
            <a:ext cx="50800" cy="798068"/>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5130800"/>
            <a:ext cx="4419600" cy="620268"/>
          </a:xfrm>
          <a:prstGeom prst="rect">
            <a:avLst/>
          </a:prstGeom>
          <a:noFill/>
        </p:spPr>
        <p:txBody>
          <a:bodyPr wrap="square" lIns="0" rIns="0" tIns="0" bIns="0">
            <a:spAutoFit/>
          </a:bodyPr>
          <a:lstStyle/>
          <a:p>
            <a:pPr algn="l">
              <a:lnSpc>
                <a:spcPct val="118000"/>
              </a:lnSpc>
              <a:spcAft>
                <a:spcPts val="400"/>
              </a:spcAft>
            </a:pPr>
            <a:r>
              <a:rPr sz="1900" b="1">
                <a:solidFill>
                  <a:srgbClr val="1B2638"/>
                </a:solidFill>
                <a:latin typeface="Calibri"/>
              </a:rPr>
              <a:t>Why:</a:t>
            </a:r>
            <a:r>
              <a:rPr sz="1900" b="0">
                <a:solidFill>
                  <a:srgbClr val="1B2638"/>
                </a:solidFill>
                <a:latin typeface="Calibri"/>
              </a:rPr>
              <a:t> softmax always picks a known device, even for an attacker.</a:t>
            </a:r>
          </a:p>
        </p:txBody>
      </p:sp>
      <p:pic>
        <p:nvPicPr>
          <p:cNvPr id="10" name="Picture 9" descr="fig_openset.png"/>
          <p:cNvPicPr>
            <a:picLocks noChangeAspect="1"/>
          </p:cNvPicPr>
          <p:nvPr/>
        </p:nvPicPr>
        <p:blipFill>
          <a:blip r:embed="rId2"/>
          <a:stretch>
            <a:fillRect/>
          </a:stretch>
        </p:blipFill>
        <p:spPr>
          <a:xfrm>
            <a:off x="5969000" y="1755400"/>
            <a:ext cx="5410200" cy="3759948"/>
          </a:xfrm>
          <a:prstGeom prst="rect">
            <a:avLst/>
          </a:prstGeom>
        </p:spPr>
      </p:pic>
      <p:sp>
        <p:nvSpPr>
          <p:cNvPr id="11" name="TextBox 10"/>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a:t>
            </a:r>
          </a:p>
        </p:txBody>
      </p:sp>
      <p:sp>
        <p:nvSpPr>
          <p:cNvPr id="12" name="TextBox 11"/>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1F6"/>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0E6E73"/>
                </a:solidFill>
                <a:latin typeface="Calibri"/>
              </a:rPr>
              <a:t>COMPARISON</a:t>
            </a:r>
          </a:p>
        </p:txBody>
      </p:sp>
      <p:sp>
        <p:nvSpPr>
          <p:cNvPr id="3" name="TextBox 2"/>
          <p:cNvSpPr txBox="1"/>
          <p:nvPr/>
        </p:nvSpPr>
        <p:spPr>
          <a:xfrm>
            <a:off x="812800" y="660400"/>
            <a:ext cx="10566400" cy="45085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The surveyed work side by side</a:t>
            </a:r>
          </a:p>
        </p:txBody>
      </p:sp>
      <p:sp>
        <p:nvSpPr>
          <p:cNvPr id="4" name="Rectangle 3"/>
          <p:cNvSpPr/>
          <p:nvPr/>
        </p:nvSpPr>
        <p:spPr>
          <a:xfrm>
            <a:off x="812800" y="1174750"/>
            <a:ext cx="762000" cy="38100"/>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12800" y="1428750"/>
          <a:ext cx="10566400" cy="3860800"/>
        </p:xfrm>
        <a:graphic>
          <a:graphicData uri="http://schemas.openxmlformats.org/drawingml/2006/table">
            <a:tbl>
              <a:tblPr firstRow="1" bandRow="1">
                <a:tableStyleId>{5C22544A-7EE6-4342-B048-85BDC9FD1C3A}</a:tableStyleId>
              </a:tblPr>
              <a:tblGrid>
                <a:gridCol w="2730500"/>
                <a:gridCol w="2413000"/>
                <a:gridCol w="3429000"/>
                <a:gridCol w="1993900"/>
              </a:tblGrid>
              <a:tr h="482600">
                <a:tc>
                  <a:txBody>
                    <a:bodyPr/>
                    <a:lstStyle/>
                    <a:p>
                      <a:r>
                        <a:rPr sz="1600" b="1">
                          <a:solidFill>
                            <a:srgbClr val="F8F7F3"/>
                          </a:solidFill>
                          <a:latin typeface="Calibri"/>
                        </a:rPr>
                        <a:t>Work</a:t>
                      </a:r>
                    </a:p>
                  </a:txBody>
                  <a:tcPr anchor="ctr">
                    <a:solidFill>
                      <a:srgbClr val="1B2638"/>
                    </a:solidFill>
                  </a:tcPr>
                </a:tc>
                <a:tc>
                  <a:txBody>
                    <a:bodyPr/>
                    <a:lstStyle/>
                    <a:p>
                      <a:r>
                        <a:rPr sz="1600" b="1">
                          <a:solidFill>
                            <a:srgbClr val="F8F7F3"/>
                          </a:solidFill>
                          <a:latin typeface="Calibri"/>
                        </a:rPr>
                        <a:t>Capture</a:t>
                      </a:r>
                    </a:p>
                  </a:txBody>
                  <a:tcPr anchor="ctr">
                    <a:solidFill>
                      <a:srgbClr val="1B2638"/>
                    </a:solidFill>
                  </a:tcPr>
                </a:tc>
                <a:tc>
                  <a:txBody>
                    <a:bodyPr/>
                    <a:lstStyle/>
                    <a:p>
                      <a:r>
                        <a:rPr sz="1600" b="1">
                          <a:solidFill>
                            <a:srgbClr val="F8F7F3"/>
                          </a:solidFill>
                          <a:latin typeface="Calibri"/>
                        </a:rPr>
                        <a:t>Feature and method</a:t>
                      </a:r>
                    </a:p>
                  </a:txBody>
                  <a:tcPr anchor="ctr">
                    <a:solidFill>
                      <a:srgbClr val="1B2638"/>
                    </a:solidFill>
                  </a:tcPr>
                </a:tc>
                <a:tc>
                  <a:txBody>
                    <a:bodyPr/>
                    <a:lstStyle/>
                    <a:p>
                      <a:r>
                        <a:rPr sz="1600" b="1">
                          <a:solidFill>
                            <a:srgbClr val="F8F7F3"/>
                          </a:solidFill>
                          <a:latin typeface="Calibri"/>
                        </a:rPr>
                        <a:t>Limitation</a:t>
                      </a:r>
                    </a:p>
                  </a:txBody>
                  <a:tcPr anchor="ctr">
                    <a:solidFill>
                      <a:srgbClr val="1B2638"/>
                    </a:solidFill>
                  </a:tcPr>
                </a:tc>
              </a:tr>
              <a:tr h="482600">
                <a:tc>
                  <a:txBody>
                    <a:bodyPr/>
                    <a:lstStyle/>
                    <a:p>
                      <a:r>
                        <a:rPr sz="1600" b="0">
                          <a:solidFill>
                            <a:srgbClr val="1B2638"/>
                          </a:solidFill>
                          <a:latin typeface="Calibri"/>
                        </a:rPr>
                        <a:t>Kohno 2005; Jana 2010</a:t>
                      </a:r>
                    </a:p>
                  </a:txBody>
                  <a:tcPr anchor="ctr">
                    <a:solidFill>
                      <a:srgbClr val="FFFFFF"/>
                    </a:solidFill>
                  </a:tcPr>
                </a:tc>
                <a:tc>
                  <a:txBody>
                    <a:bodyPr/>
                    <a:lstStyle/>
                    <a:p>
                      <a:r>
                        <a:rPr sz="1600" b="0">
                          <a:solidFill>
                            <a:srgbClr val="1B2638"/>
                          </a:solidFill>
                          <a:latin typeface="Calibri"/>
                        </a:rPr>
                        <a:t>Network timestamps</a:t>
                      </a:r>
                    </a:p>
                  </a:txBody>
                  <a:tcPr anchor="ctr">
                    <a:solidFill>
                      <a:srgbClr val="FFFFFF"/>
                    </a:solidFill>
                  </a:tcPr>
                </a:tc>
                <a:tc>
                  <a:txBody>
                    <a:bodyPr/>
                    <a:lstStyle/>
                    <a:p>
                      <a:r>
                        <a:rPr sz="1600" b="0">
                          <a:solidFill>
                            <a:srgbClr val="1B2638"/>
                          </a:solidFill>
                          <a:latin typeface="Calibri"/>
                        </a:rPr>
                        <a:t>Clock skew</a:t>
                      </a:r>
                    </a:p>
                  </a:txBody>
                  <a:tcPr anchor="ctr">
                    <a:solidFill>
                      <a:srgbClr val="FFFFFF"/>
                    </a:solidFill>
                  </a:tcPr>
                </a:tc>
                <a:tc>
                  <a:txBody>
                    <a:bodyPr/>
                    <a:lstStyle/>
                    <a:p>
                      <a:r>
                        <a:rPr sz="1600" b="0">
                          <a:solidFill>
                            <a:srgbClr val="1B2638"/>
                          </a:solidFill>
                          <a:latin typeface="Calibri"/>
                        </a:rPr>
                        <a:t>Long observation</a:t>
                      </a:r>
                    </a:p>
                  </a:txBody>
                  <a:tcPr anchor="ctr">
                    <a:solidFill>
                      <a:srgbClr val="FFFFFF"/>
                    </a:solidFill>
                  </a:tcPr>
                </a:tc>
              </a:tr>
              <a:tr h="482600">
                <a:tc>
                  <a:txBody>
                    <a:bodyPr/>
                    <a:lstStyle/>
                    <a:p>
                      <a:r>
                        <a:rPr sz="1600" b="0">
                          <a:solidFill>
                            <a:srgbClr val="1B2638"/>
                          </a:solidFill>
                          <a:latin typeface="Calibri"/>
                        </a:rPr>
                        <a:t>Ureten 2007; Danev 2009</a:t>
                      </a:r>
                    </a:p>
                  </a:txBody>
                  <a:tcPr anchor="ctr">
                    <a:solidFill>
                      <a:srgbClr val="F8F7F3"/>
                    </a:solidFill>
                  </a:tcPr>
                </a:tc>
                <a:tc>
                  <a:txBody>
                    <a:bodyPr/>
                    <a:lstStyle/>
                    <a:p>
                      <a:r>
                        <a:rPr sz="1600" b="0">
                          <a:solidFill>
                            <a:srgbClr val="1B2638"/>
                          </a:solidFill>
                          <a:latin typeface="Calibri"/>
                        </a:rPr>
                        <a:t>High-rate oscilloscope</a:t>
                      </a:r>
                    </a:p>
                  </a:txBody>
                  <a:tcPr anchor="ctr">
                    <a:solidFill>
                      <a:srgbClr val="F8F7F3"/>
                    </a:solidFill>
                  </a:tcPr>
                </a:tc>
                <a:tc>
                  <a:txBody>
                    <a:bodyPr/>
                    <a:lstStyle/>
                    <a:p>
                      <a:r>
                        <a:rPr sz="1600" b="0">
                          <a:solidFill>
                            <a:srgbClr val="1B2638"/>
                          </a:solidFill>
                          <a:latin typeface="Calibri"/>
                        </a:rPr>
                        <a:t>Turn-on transient</a:t>
                      </a:r>
                    </a:p>
                  </a:txBody>
                  <a:tcPr anchor="ctr">
                    <a:solidFill>
                      <a:srgbClr val="F8F7F3"/>
                    </a:solidFill>
                  </a:tcPr>
                </a:tc>
                <a:tc>
                  <a:txBody>
                    <a:bodyPr/>
                    <a:lstStyle/>
                    <a:p>
                      <a:r>
                        <a:rPr sz="1600" b="0">
                          <a:solidFill>
                            <a:srgbClr val="1B2638"/>
                          </a:solidFill>
                          <a:latin typeface="Calibri"/>
                        </a:rPr>
                        <a:t>Very fast sampling</a:t>
                      </a:r>
                    </a:p>
                  </a:txBody>
                  <a:tcPr anchor="ctr">
                    <a:solidFill>
                      <a:srgbClr val="F8F7F3"/>
                    </a:solidFill>
                  </a:tcPr>
                </a:tc>
              </a:tr>
              <a:tr h="482600">
                <a:tc>
                  <a:txBody>
                    <a:bodyPr/>
                    <a:lstStyle/>
                    <a:p>
                      <a:r>
                        <a:rPr sz="1600" b="0">
                          <a:solidFill>
                            <a:srgbClr val="1B2638"/>
                          </a:solidFill>
                          <a:latin typeface="Calibri"/>
                        </a:rPr>
                        <a:t>Brik 2008 (PARADIS)</a:t>
                      </a:r>
                    </a:p>
                  </a:txBody>
                  <a:tcPr anchor="ctr">
                    <a:solidFill>
                      <a:srgbClr val="FFFFFF"/>
                    </a:solidFill>
                  </a:tcPr>
                </a:tc>
                <a:tc>
                  <a:txBody>
                    <a:bodyPr/>
                    <a:lstStyle/>
                    <a:p>
                      <a:r>
                        <a:rPr sz="1600" b="0">
                          <a:solidFill>
                            <a:srgbClr val="1B2638"/>
                          </a:solidFill>
                          <a:latin typeface="Calibri"/>
                        </a:rPr>
                        <a:t>Signal analyser</a:t>
                      </a:r>
                    </a:p>
                  </a:txBody>
                  <a:tcPr anchor="ctr">
                    <a:solidFill>
                      <a:srgbClr val="FFFFFF"/>
                    </a:solidFill>
                  </a:tcPr>
                </a:tc>
                <a:tc>
                  <a:txBody>
                    <a:bodyPr/>
                    <a:lstStyle/>
                    <a:p>
                      <a:r>
                        <a:rPr sz="1600" b="0">
                          <a:solidFill>
                            <a:srgbClr val="1B2638"/>
                          </a:solidFill>
                          <a:latin typeface="Calibri"/>
                        </a:rPr>
                        <a:t>Modulation errors, k-NN / SVM</a:t>
                      </a:r>
                    </a:p>
                  </a:txBody>
                  <a:tcPr anchor="ctr">
                    <a:solidFill>
                      <a:srgbClr val="FFFFFF"/>
                    </a:solidFill>
                  </a:tcPr>
                </a:tc>
                <a:tc>
                  <a:txBody>
                    <a:bodyPr/>
                    <a:lstStyle/>
                    <a:p>
                      <a:r>
                        <a:rPr sz="1600" b="0">
                          <a:solidFill>
                            <a:srgbClr val="1B2638"/>
                          </a:solidFill>
                          <a:latin typeface="Calibri"/>
                        </a:rPr>
                        <a:t>Lab equipment</a:t>
                      </a:r>
                    </a:p>
                  </a:txBody>
                  <a:tcPr anchor="ctr">
                    <a:solidFill>
                      <a:srgbClr val="FFFFFF"/>
                    </a:solidFill>
                  </a:tcPr>
                </a:tc>
              </a:tr>
              <a:tr h="482600">
                <a:tc>
                  <a:txBody>
                    <a:bodyPr/>
                    <a:lstStyle/>
                    <a:p>
                      <a:r>
                        <a:rPr sz="1600" b="0">
                          <a:solidFill>
                            <a:srgbClr val="1B2638"/>
                          </a:solidFill>
                          <a:latin typeface="Calibri"/>
                        </a:rPr>
                        <a:t>Merchant, Riyaz 2018</a:t>
                      </a:r>
                    </a:p>
                  </a:txBody>
                  <a:tcPr anchor="ctr">
                    <a:solidFill>
                      <a:srgbClr val="F8F7F3"/>
                    </a:solidFill>
                  </a:tcPr>
                </a:tc>
                <a:tc>
                  <a:txBody>
                    <a:bodyPr/>
                    <a:lstStyle/>
                    <a:p>
                      <a:r>
                        <a:rPr sz="1600" b="0">
                          <a:solidFill>
                            <a:srgbClr val="1B2638"/>
                          </a:solidFill>
                          <a:latin typeface="Calibri"/>
                        </a:rPr>
                        <a:t>SDR I/Q</a:t>
                      </a:r>
                    </a:p>
                  </a:txBody>
                  <a:tcPr anchor="ctr">
                    <a:solidFill>
                      <a:srgbClr val="F8F7F3"/>
                    </a:solidFill>
                  </a:tcPr>
                </a:tc>
                <a:tc>
                  <a:txBody>
                    <a:bodyPr/>
                    <a:lstStyle/>
                    <a:p>
                      <a:r>
                        <a:rPr sz="1600" b="0">
                          <a:solidFill>
                            <a:srgbClr val="1B2638"/>
                          </a:solidFill>
                          <a:latin typeface="Calibri"/>
                        </a:rPr>
                        <a:t>CNN</a:t>
                      </a:r>
                    </a:p>
                  </a:txBody>
                  <a:tcPr anchor="ctr">
                    <a:solidFill>
                      <a:srgbClr val="F8F7F3"/>
                    </a:solidFill>
                  </a:tcPr>
                </a:tc>
                <a:tc>
                  <a:txBody>
                    <a:bodyPr/>
                    <a:lstStyle/>
                    <a:p>
                      <a:r>
                        <a:rPr sz="1600" b="0">
                          <a:solidFill>
                            <a:srgbClr val="1B2638"/>
                          </a:solidFill>
                          <a:latin typeface="Calibri"/>
                        </a:rPr>
                        <a:t>SDR and GPU</a:t>
                      </a:r>
                    </a:p>
                  </a:txBody>
                  <a:tcPr anchor="ctr">
                    <a:solidFill>
                      <a:srgbClr val="F8F7F3"/>
                    </a:solidFill>
                  </a:tcPr>
                </a:tc>
              </a:tr>
              <a:tr h="482600">
                <a:tc>
                  <a:txBody>
                    <a:bodyPr/>
                    <a:lstStyle/>
                    <a:p>
                      <a:r>
                        <a:rPr sz="1600" b="0">
                          <a:solidFill>
                            <a:srgbClr val="1B2638"/>
                          </a:solidFill>
                          <a:latin typeface="Calibri"/>
                        </a:rPr>
                        <a:t>Sankhe 2019 (ORACLE)</a:t>
                      </a:r>
                    </a:p>
                  </a:txBody>
                  <a:tcPr anchor="ctr">
                    <a:solidFill>
                      <a:srgbClr val="FFFFFF"/>
                    </a:solidFill>
                  </a:tcPr>
                </a:tc>
                <a:tc>
                  <a:txBody>
                    <a:bodyPr/>
                    <a:lstStyle/>
                    <a:p>
                      <a:r>
                        <a:rPr sz="1600" b="0">
                          <a:solidFill>
                            <a:srgbClr val="1B2638"/>
                          </a:solidFill>
                          <a:latin typeface="Calibri"/>
                        </a:rPr>
                        <a:t>USRP SDR</a:t>
                      </a:r>
                    </a:p>
                  </a:txBody>
                  <a:tcPr anchor="ctr">
                    <a:solidFill>
                      <a:srgbClr val="FFFFFF"/>
                    </a:solidFill>
                  </a:tcPr>
                </a:tc>
                <a:tc>
                  <a:txBody>
                    <a:bodyPr/>
                    <a:lstStyle/>
                    <a:p>
                      <a:r>
                        <a:rPr sz="1600" b="0">
                          <a:solidFill>
                            <a:srgbClr val="1B2638"/>
                          </a:solidFill>
                          <a:latin typeface="Calibri"/>
                        </a:rPr>
                        <a:t>CNN, injected impairments</a:t>
                      </a:r>
                    </a:p>
                  </a:txBody>
                  <a:tcPr anchor="ctr">
                    <a:solidFill>
                      <a:srgbClr val="FFFFFF"/>
                    </a:solidFill>
                  </a:tcPr>
                </a:tc>
                <a:tc>
                  <a:txBody>
                    <a:bodyPr/>
                    <a:lstStyle/>
                    <a:p>
                      <a:r>
                        <a:rPr sz="1600" b="0">
                          <a:solidFill>
                            <a:srgbClr val="1B2638"/>
                          </a:solidFill>
                          <a:latin typeface="Calibri"/>
                        </a:rPr>
                        <a:t>Costly testbed</a:t>
                      </a:r>
                    </a:p>
                  </a:txBody>
                  <a:tcPr anchor="ctr">
                    <a:solidFill>
                      <a:srgbClr val="FFFFFF"/>
                    </a:solidFill>
                  </a:tcPr>
                </a:tc>
              </a:tr>
              <a:tr h="482600">
                <a:tc>
                  <a:txBody>
                    <a:bodyPr/>
                    <a:lstStyle/>
                    <a:p>
                      <a:r>
                        <a:rPr sz="1600" b="0">
                          <a:solidFill>
                            <a:srgbClr val="1B2638"/>
                          </a:solidFill>
                          <a:latin typeface="Calibri"/>
                        </a:rPr>
                        <a:t>Shen 2022</a:t>
                      </a:r>
                    </a:p>
                  </a:txBody>
                  <a:tcPr anchor="ctr">
                    <a:solidFill>
                      <a:srgbClr val="F8F7F3"/>
                    </a:solidFill>
                  </a:tcPr>
                </a:tc>
                <a:tc>
                  <a:txBody>
                    <a:bodyPr/>
                    <a:lstStyle/>
                    <a:p>
                      <a:r>
                        <a:rPr sz="1600" b="0">
                          <a:solidFill>
                            <a:srgbClr val="1B2638"/>
                          </a:solidFill>
                          <a:latin typeface="Calibri"/>
                        </a:rPr>
                        <a:t>SDR, LoRa</a:t>
                      </a:r>
                    </a:p>
                  </a:txBody>
                  <a:tcPr anchor="ctr">
                    <a:solidFill>
                      <a:srgbClr val="F8F7F3"/>
                    </a:solidFill>
                  </a:tcPr>
                </a:tc>
                <a:tc>
                  <a:txBody>
                    <a:bodyPr/>
                    <a:lstStyle/>
                    <a:p>
                      <a:r>
                        <a:rPr sz="1600" b="0">
                          <a:solidFill>
                            <a:srgbClr val="1B2638"/>
                          </a:solidFill>
                          <a:latin typeface="Calibri"/>
                        </a:rPr>
                        <a:t>Channel-independent spectrogram</a:t>
                      </a:r>
                    </a:p>
                  </a:txBody>
                  <a:tcPr anchor="ctr">
                    <a:solidFill>
                      <a:srgbClr val="F8F7F3"/>
                    </a:solidFill>
                  </a:tcPr>
                </a:tc>
                <a:tc>
                  <a:txBody>
                    <a:bodyPr/>
                    <a:lstStyle/>
                    <a:p>
                      <a:r>
                        <a:rPr sz="1600" b="0">
                          <a:solidFill>
                            <a:srgbClr val="1B2638"/>
                          </a:solidFill>
                          <a:latin typeface="Calibri"/>
                        </a:rPr>
                        <a:t>SDR required</a:t>
                      </a:r>
                    </a:p>
                  </a:txBody>
                  <a:tcPr anchor="ctr">
                    <a:solidFill>
                      <a:srgbClr val="F8F7F3"/>
                    </a:solidFill>
                  </a:tcPr>
                </a:tc>
              </a:tr>
              <a:tr h="482600">
                <a:tc>
                  <a:txBody>
                    <a:bodyPr/>
                    <a:lstStyle/>
                    <a:p>
                      <a:r>
                        <a:rPr sz="1600" b="0">
                          <a:solidFill>
                            <a:srgbClr val="1B2638"/>
                          </a:solidFill>
                          <a:latin typeface="Calibri"/>
                        </a:rPr>
                        <a:t>Lee 2018 (ML)</a:t>
                      </a:r>
                    </a:p>
                  </a:txBody>
                  <a:tcPr anchor="ctr">
                    <a:solidFill>
                      <a:srgbClr val="FFFFFF"/>
                    </a:solidFill>
                  </a:tcPr>
                </a:tc>
                <a:tc>
                  <a:txBody>
                    <a:bodyPr/>
                    <a:lstStyle/>
                    <a:p>
                      <a:r>
                        <a:rPr sz="1600" b="0">
                          <a:solidFill>
                            <a:srgbClr val="1B2638"/>
                          </a:solidFill>
                          <a:latin typeface="Calibri"/>
                        </a:rPr>
                        <a:t>Deep features</a:t>
                      </a:r>
                    </a:p>
                  </a:txBody>
                  <a:tcPr anchor="ctr">
                    <a:solidFill>
                      <a:srgbClr val="FFFFFF"/>
                    </a:solidFill>
                  </a:tcPr>
                </a:tc>
                <a:tc>
                  <a:txBody>
                    <a:bodyPr/>
                    <a:lstStyle/>
                    <a:p>
                      <a:r>
                        <a:rPr sz="1600" b="0">
                          <a:solidFill>
                            <a:srgbClr val="1B2638"/>
                          </a:solidFill>
                          <a:latin typeface="Calibri"/>
                        </a:rPr>
                        <a:t>Mahalanobis open-set</a:t>
                      </a:r>
                    </a:p>
                  </a:txBody>
                  <a:tcPr anchor="ctr">
                    <a:solidFill>
                      <a:srgbClr val="FFFFFF"/>
                    </a:solidFill>
                  </a:tcPr>
                </a:tc>
                <a:tc>
                  <a:txBody>
                    <a:bodyPr/>
                    <a:lstStyle/>
                    <a:p>
                      <a:r>
                        <a:rPr sz="1600" b="0">
                          <a:solidFill>
                            <a:srgbClr val="1B2638"/>
                          </a:solidFill>
                          <a:latin typeface="Calibri"/>
                        </a:rPr>
                        <a:t>Not RF-specific</a:t>
                      </a:r>
                    </a:p>
                  </a:txBody>
                  <a:tcPr anchor="ctr">
                    <a:solidFill>
                      <a:srgbClr val="FFFFFF"/>
                    </a:solidFill>
                  </a:tcPr>
                </a:tc>
              </a:tr>
            </a:tbl>
          </a:graphicData>
        </a:graphic>
      </p:graphicFrame>
      <p:sp>
        <p:nvSpPr>
          <p:cNvPr id="6" name="TextBox 5"/>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a:t>
            </a:r>
          </a:p>
        </p:txBody>
      </p:sp>
      <p:sp>
        <p:nvSpPr>
          <p:cNvPr id="7" name="TextBox 6"/>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0E6E73"/>
                </a:solidFill>
                <a:latin typeface="Calibri"/>
              </a:rPr>
              <a:t>RESEARCH GAP</a:t>
            </a:r>
          </a:p>
        </p:txBody>
      </p:sp>
      <p:sp>
        <p:nvSpPr>
          <p:cNvPr id="3" name="TextBox 2"/>
          <p:cNvSpPr txBox="1"/>
          <p:nvPr/>
        </p:nvSpPr>
        <p:spPr>
          <a:xfrm>
            <a:off x="812800" y="660400"/>
            <a:ext cx="10566400" cy="45085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What the literature leaves open</a:t>
            </a:r>
          </a:p>
        </p:txBody>
      </p:sp>
      <p:sp>
        <p:nvSpPr>
          <p:cNvPr id="4" name="Rectangle 3"/>
          <p:cNvSpPr/>
          <p:nvPr/>
        </p:nvSpPr>
        <p:spPr>
          <a:xfrm>
            <a:off x="812800" y="1174750"/>
            <a:ext cx="762000" cy="38100"/>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428750"/>
            <a:ext cx="5016500" cy="1445767"/>
          </a:xfrm>
          <a:prstGeom prst="rect">
            <a:avLst/>
          </a:prstGeom>
          <a:noFill/>
        </p:spPr>
        <p:txBody>
          <a:bodyPr wrap="square" lIns="0" rIns="0" tIns="0" bIns="0">
            <a:spAutoFit/>
          </a:bodyPr>
          <a:lstStyle/>
          <a:p>
            <a:pPr algn="l">
              <a:lnSpc>
                <a:spcPct val="118000"/>
              </a:lnSpc>
              <a:spcAft>
                <a:spcPts val="300"/>
              </a:spcAft>
            </a:pPr>
            <a:r>
              <a:rPr sz="2800" b="1">
                <a:solidFill>
                  <a:srgbClr val="0E6E73"/>
                </a:solidFill>
                <a:latin typeface="Georgia"/>
              </a:rPr>
              <a:t>01</a:t>
            </a:r>
          </a:p>
          <a:p>
            <a:pPr algn="l">
              <a:lnSpc>
                <a:spcPct val="118000"/>
              </a:lnSpc>
              <a:spcAft>
                <a:spcPts val="300"/>
              </a:spcAft>
            </a:pPr>
            <a:r>
              <a:rPr sz="2200" b="1">
                <a:solidFill>
                  <a:srgbClr val="1B2638"/>
                </a:solidFill>
                <a:latin typeface="Calibri"/>
              </a:rPr>
              <a:t>Cost</a:t>
            </a:r>
          </a:p>
          <a:p>
            <a:pPr algn="l">
              <a:lnSpc>
                <a:spcPct val="118000"/>
              </a:lnSpc>
              <a:spcAft>
                <a:spcPts val="400"/>
              </a:spcAft>
            </a:pPr>
            <a:r>
              <a:rPr sz="1900" b="0">
                <a:solidFill>
                  <a:srgbClr val="3F4A5C"/>
                </a:solidFill>
                <a:latin typeface="Calibri"/>
              </a:rPr>
              <a:t>Capture hardware costs far more than the device it protects.</a:t>
            </a:r>
          </a:p>
        </p:txBody>
      </p:sp>
      <p:sp>
        <p:nvSpPr>
          <p:cNvPr id="6" name="TextBox 5"/>
          <p:cNvSpPr txBox="1"/>
          <p:nvPr/>
        </p:nvSpPr>
        <p:spPr>
          <a:xfrm>
            <a:off x="6273800" y="1428750"/>
            <a:ext cx="5016500" cy="1445767"/>
          </a:xfrm>
          <a:prstGeom prst="rect">
            <a:avLst/>
          </a:prstGeom>
          <a:noFill/>
        </p:spPr>
        <p:txBody>
          <a:bodyPr wrap="square" lIns="0" rIns="0" tIns="0" bIns="0">
            <a:spAutoFit/>
          </a:bodyPr>
          <a:lstStyle/>
          <a:p>
            <a:pPr algn="l">
              <a:lnSpc>
                <a:spcPct val="118000"/>
              </a:lnSpc>
              <a:spcAft>
                <a:spcPts val="300"/>
              </a:spcAft>
            </a:pPr>
            <a:r>
              <a:rPr sz="2800" b="1">
                <a:solidFill>
                  <a:srgbClr val="0E6E73"/>
                </a:solidFill>
                <a:latin typeface="Georgia"/>
              </a:rPr>
              <a:t>02</a:t>
            </a:r>
          </a:p>
          <a:p>
            <a:pPr algn="l">
              <a:lnSpc>
                <a:spcPct val="118000"/>
              </a:lnSpc>
              <a:spcAft>
                <a:spcPts val="300"/>
              </a:spcAft>
            </a:pPr>
            <a:r>
              <a:rPr sz="2200" b="1">
                <a:solidFill>
                  <a:srgbClr val="1B2638"/>
                </a:solidFill>
                <a:latin typeface="Calibri"/>
              </a:rPr>
              <a:t>Cheap receivers distort</a:t>
            </a:r>
          </a:p>
          <a:p>
            <a:pPr algn="l">
              <a:lnSpc>
                <a:spcPct val="118000"/>
              </a:lnSpc>
              <a:spcAft>
                <a:spcPts val="400"/>
              </a:spcAft>
            </a:pPr>
            <a:r>
              <a:rPr sz="1900" b="0">
                <a:solidFill>
                  <a:srgbClr val="3F4A5C"/>
                </a:solidFill>
                <a:latin typeface="Calibri"/>
              </a:rPr>
              <a:t>Low-cost OOK receivers bias pulse widths; methods assume clean I/Q.</a:t>
            </a:r>
          </a:p>
        </p:txBody>
      </p:sp>
      <p:sp>
        <p:nvSpPr>
          <p:cNvPr id="7" name="TextBox 6"/>
          <p:cNvSpPr txBox="1"/>
          <p:nvPr/>
        </p:nvSpPr>
        <p:spPr>
          <a:xfrm>
            <a:off x="812800" y="2889250"/>
            <a:ext cx="5016500" cy="1445768"/>
          </a:xfrm>
          <a:prstGeom prst="rect">
            <a:avLst/>
          </a:prstGeom>
          <a:noFill/>
        </p:spPr>
        <p:txBody>
          <a:bodyPr wrap="square" lIns="0" rIns="0" tIns="0" bIns="0">
            <a:spAutoFit/>
          </a:bodyPr>
          <a:lstStyle/>
          <a:p>
            <a:pPr algn="l">
              <a:lnSpc>
                <a:spcPct val="118000"/>
              </a:lnSpc>
              <a:spcAft>
                <a:spcPts val="300"/>
              </a:spcAft>
            </a:pPr>
            <a:r>
              <a:rPr sz="2800" b="1">
                <a:solidFill>
                  <a:srgbClr val="0E6E73"/>
                </a:solidFill>
                <a:latin typeface="Georgia"/>
              </a:rPr>
              <a:t>03</a:t>
            </a:r>
          </a:p>
          <a:p>
            <a:pPr algn="l">
              <a:lnSpc>
                <a:spcPct val="118000"/>
              </a:lnSpc>
              <a:spcAft>
                <a:spcPts val="300"/>
              </a:spcAft>
            </a:pPr>
            <a:r>
              <a:rPr sz="2200" b="1">
                <a:solidFill>
                  <a:srgbClr val="1B2638"/>
                </a:solidFill>
                <a:latin typeface="Calibri"/>
              </a:rPr>
              <a:t>Not on the device</a:t>
            </a:r>
          </a:p>
          <a:p>
            <a:pPr algn="l">
              <a:lnSpc>
                <a:spcPct val="118000"/>
              </a:lnSpc>
              <a:spcAft>
                <a:spcPts val="400"/>
              </a:spcAft>
            </a:pPr>
            <a:r>
              <a:rPr sz="1900" b="0">
                <a:solidFill>
                  <a:srgbClr val="3F4A5C"/>
                </a:solidFill>
                <a:latin typeface="Calibri"/>
              </a:rPr>
              <a:t>Decisions run on a PC or GPU, not on the receiver itself.</a:t>
            </a:r>
          </a:p>
        </p:txBody>
      </p:sp>
      <p:sp>
        <p:nvSpPr>
          <p:cNvPr id="8" name="TextBox 7"/>
          <p:cNvSpPr txBox="1"/>
          <p:nvPr/>
        </p:nvSpPr>
        <p:spPr>
          <a:xfrm>
            <a:off x="6273800" y="2889250"/>
            <a:ext cx="5016500" cy="1445768"/>
          </a:xfrm>
          <a:prstGeom prst="rect">
            <a:avLst/>
          </a:prstGeom>
          <a:noFill/>
        </p:spPr>
        <p:txBody>
          <a:bodyPr wrap="square" lIns="0" rIns="0" tIns="0" bIns="0">
            <a:spAutoFit/>
          </a:bodyPr>
          <a:lstStyle/>
          <a:p>
            <a:pPr algn="l">
              <a:lnSpc>
                <a:spcPct val="118000"/>
              </a:lnSpc>
              <a:spcAft>
                <a:spcPts val="300"/>
              </a:spcAft>
            </a:pPr>
            <a:r>
              <a:rPr sz="2800" b="1">
                <a:solidFill>
                  <a:srgbClr val="0E6E73"/>
                </a:solidFill>
                <a:latin typeface="Georgia"/>
              </a:rPr>
              <a:t>04</a:t>
            </a:r>
          </a:p>
          <a:p>
            <a:pPr algn="l">
              <a:lnSpc>
                <a:spcPct val="118000"/>
              </a:lnSpc>
              <a:spcAft>
                <a:spcPts val="300"/>
              </a:spcAft>
            </a:pPr>
            <a:r>
              <a:rPr sz="2200" b="1">
                <a:solidFill>
                  <a:srgbClr val="1B2638"/>
                </a:solidFill>
                <a:latin typeface="Calibri"/>
              </a:rPr>
              <a:t>Single factor</a:t>
            </a:r>
          </a:p>
          <a:p>
            <a:pPr algn="l">
              <a:lnSpc>
                <a:spcPct val="118000"/>
              </a:lnSpc>
              <a:spcAft>
                <a:spcPts val="400"/>
              </a:spcAft>
            </a:pPr>
            <a:r>
              <a:rPr sz="1900" b="0">
                <a:solidFill>
                  <a:srgbClr val="3F4A5C"/>
                </a:solidFill>
                <a:latin typeface="Calibri"/>
              </a:rPr>
              <a:t>The fingerprint is rarely combined with a user secret.</a:t>
            </a:r>
          </a:p>
        </p:txBody>
      </p:sp>
      <p:sp>
        <p:nvSpPr>
          <p:cNvPr id="9" name="Rounded Rectangle 8"/>
          <p:cNvSpPr/>
          <p:nvPr/>
        </p:nvSpPr>
        <p:spPr>
          <a:xfrm>
            <a:off x="812800" y="5207000"/>
            <a:ext cx="10566400" cy="887983"/>
          </a:xfrm>
          <a:prstGeom prst="roundRect">
            <a:avLst>
              <a:gd name="adj" fmla="val 7151"/>
            </a:avLst>
          </a:prstGeom>
          <a:solidFill>
            <a:srgbClr val="F6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2800" y="5207000"/>
            <a:ext cx="50800" cy="887983"/>
          </a:xfrm>
          <a:prstGeom prst="rect">
            <a:avLst/>
          </a:prstGeom>
          <a:solidFill>
            <a:srgbClr val="B45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6000" y="5321300"/>
            <a:ext cx="10160000" cy="710183"/>
          </a:xfrm>
          <a:prstGeom prst="rect">
            <a:avLst/>
          </a:prstGeom>
          <a:noFill/>
        </p:spPr>
        <p:txBody>
          <a:bodyPr wrap="square" lIns="0" rIns="0" tIns="0" bIns="0">
            <a:spAutoFit/>
          </a:bodyPr>
          <a:lstStyle/>
          <a:p>
            <a:pPr algn="l">
              <a:lnSpc>
                <a:spcPct val="118000"/>
              </a:lnSpc>
              <a:spcAft>
                <a:spcPts val="400"/>
              </a:spcAft>
            </a:pPr>
            <a:r>
              <a:rPr sz="2200" b="1">
                <a:solidFill>
                  <a:srgbClr val="1B2638"/>
                </a:solidFill>
                <a:latin typeface="Calibri"/>
              </a:rPr>
              <a:t>Question:</a:t>
            </a:r>
            <a:r>
              <a:rPr sz="2200" b="0">
                <a:solidFill>
                  <a:srgbClr val="1B2638"/>
                </a:solidFill>
                <a:latin typeface="Calibri"/>
              </a:rPr>
              <a:t> can a $5 microcontroller behind a $1 receiver authenticate the transmitter on its own?</a:t>
            </a:r>
          </a:p>
        </p:txBody>
      </p:sp>
      <p:sp>
        <p:nvSpPr>
          <p:cNvPr id="12" name="TextBox 11"/>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a:t>
            </a:r>
          </a:p>
        </p:txBody>
      </p:sp>
      <p:sp>
        <p:nvSpPr>
          <p:cNvPr id="13" name="TextBox 12"/>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B4531A"/>
                </a:solidFill>
                <a:latin typeface="Calibri"/>
              </a:rPr>
              <a:t>OUR WORK · PHYAUTH-RF</a:t>
            </a:r>
          </a:p>
        </p:txBody>
      </p:sp>
      <p:sp>
        <p:nvSpPr>
          <p:cNvPr id="3" name="TextBox 2"/>
          <p:cNvSpPr txBox="1"/>
          <p:nvPr/>
        </p:nvSpPr>
        <p:spPr>
          <a:xfrm>
            <a:off x="812800" y="660400"/>
            <a:ext cx="10566400" cy="45085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A 433 MHz fingerprint verifier on an ESP32</a:t>
            </a:r>
          </a:p>
        </p:txBody>
      </p:sp>
      <p:sp>
        <p:nvSpPr>
          <p:cNvPr id="4" name="Rectangle 3"/>
          <p:cNvSpPr/>
          <p:nvPr/>
        </p:nvSpPr>
        <p:spPr>
          <a:xfrm>
            <a:off x="812800" y="1174750"/>
            <a:ext cx="762000" cy="38100"/>
          </a:xfrm>
          <a:prstGeom prst="rect">
            <a:avLst/>
          </a:prstGeom>
          <a:solidFill>
            <a:srgbClr val="B45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architecture.png"/>
          <p:cNvPicPr>
            <a:picLocks noChangeAspect="1"/>
          </p:cNvPicPr>
          <p:nvPr/>
        </p:nvPicPr>
        <p:blipFill>
          <a:blip r:embed="rId2"/>
          <a:stretch>
            <a:fillRect/>
          </a:stretch>
        </p:blipFill>
        <p:spPr>
          <a:xfrm>
            <a:off x="812800" y="1554184"/>
            <a:ext cx="6985000" cy="4289380"/>
          </a:xfrm>
          <a:prstGeom prst="rect">
            <a:avLst/>
          </a:prstGeom>
        </p:spPr>
      </p:pic>
      <p:pic>
        <p:nvPicPr>
          <p:cNvPr id="6" name="Picture 5" descr="fig_receiver_labelled.png"/>
          <p:cNvPicPr>
            <a:picLocks noChangeAspect="1"/>
          </p:cNvPicPr>
          <p:nvPr/>
        </p:nvPicPr>
        <p:blipFill>
          <a:blip r:embed="rId3"/>
          <a:stretch>
            <a:fillRect/>
          </a:stretch>
        </p:blipFill>
        <p:spPr>
          <a:xfrm>
            <a:off x="8018761" y="1428750"/>
            <a:ext cx="3342677" cy="2032000"/>
          </a:xfrm>
          <a:prstGeom prst="rect">
            <a:avLst/>
          </a:prstGeom>
        </p:spPr>
      </p:pic>
      <p:sp>
        <p:nvSpPr>
          <p:cNvPr id="7" name="TextBox 6"/>
          <p:cNvSpPr txBox="1"/>
          <p:nvPr/>
        </p:nvSpPr>
        <p:spPr>
          <a:xfrm>
            <a:off x="8001000" y="3651250"/>
            <a:ext cx="3378200" cy="1821688"/>
          </a:xfrm>
          <a:prstGeom prst="rect">
            <a:avLst/>
          </a:prstGeom>
          <a:noFill/>
        </p:spPr>
        <p:txBody>
          <a:bodyPr wrap="square" lIns="0" rIns="0" tIns="0" bIns="0">
            <a:spAutoFit/>
          </a:bodyPr>
          <a:lstStyle/>
          <a:p>
            <a:pPr algn="l">
              <a:lnSpc>
                <a:spcPct val="118000"/>
              </a:lnSpc>
              <a:spcAft>
                <a:spcPts val="400"/>
              </a:spcAft>
            </a:pPr>
            <a:r>
              <a:rPr sz="1800" b="0">
                <a:solidFill>
                  <a:srgbClr val="3F4A5C"/>
                </a:solidFill>
                <a:latin typeface="Calibri"/>
              </a:rPr>
              <a:t>•  Genuine: QC5681 EV1527 remote</a:t>
            </a:r>
          </a:p>
          <a:p>
            <a:pPr algn="l">
              <a:lnSpc>
                <a:spcPct val="118000"/>
              </a:lnSpc>
              <a:spcAft>
                <a:spcPts val="400"/>
              </a:spcAft>
            </a:pPr>
            <a:r>
              <a:rPr sz="1800" b="0">
                <a:solidFill>
                  <a:srgbClr val="3F4A5C"/>
                </a:solidFill>
                <a:latin typeface="Calibri"/>
              </a:rPr>
              <a:t>•  Receiver: ESP32 + SRX882 (≈ Rs. 650)</a:t>
            </a:r>
          </a:p>
          <a:p>
            <a:pPr algn="l">
              <a:lnSpc>
                <a:spcPct val="118000"/>
              </a:lnSpc>
              <a:spcAft>
                <a:spcPts val="400"/>
              </a:spcAft>
            </a:pPr>
            <a:r>
              <a:rPr sz="1800" b="0">
                <a:solidFill>
                  <a:srgbClr val="3F4A5C"/>
                </a:solidFill>
                <a:latin typeface="Calibri"/>
              </a:rPr>
              <a:t>•  Attacker: ESP32-S3 + STX882</a:t>
            </a:r>
          </a:p>
          <a:p>
            <a:pPr algn="l">
              <a:lnSpc>
                <a:spcPct val="118000"/>
              </a:lnSpc>
              <a:spcAft>
                <a:spcPts val="400"/>
              </a:spcAft>
            </a:pPr>
            <a:r>
              <a:rPr sz="1800" b="0">
                <a:solidFill>
                  <a:srgbClr val="3F4A5C"/>
                </a:solidFill>
                <a:latin typeface="Calibri"/>
              </a:rPr>
              <a:t>•  Every decision on the ESP32</a:t>
            </a:r>
          </a:p>
        </p:txBody>
      </p:sp>
      <p:sp>
        <p:nvSpPr>
          <p:cNvPr id="8" name="TextBox 7"/>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a:t>
            </a:r>
          </a:p>
        </p:txBody>
      </p:sp>
      <p:sp>
        <p:nvSpPr>
          <p:cNvPr id="9" name="TextBox 8"/>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B4531A"/>
                </a:solidFill>
                <a:latin typeface="Calibri"/>
              </a:rPr>
              <a:t>OUR WORK · METHOD</a:t>
            </a:r>
          </a:p>
        </p:txBody>
      </p:sp>
      <p:sp>
        <p:nvSpPr>
          <p:cNvPr id="3" name="TextBox 2"/>
          <p:cNvSpPr txBox="1"/>
          <p:nvPr/>
        </p:nvSpPr>
        <p:spPr>
          <a:xfrm>
            <a:off x="812800" y="660400"/>
            <a:ext cx="10566400" cy="45085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Timing fingerprints through a distorting receiver</a:t>
            </a:r>
          </a:p>
        </p:txBody>
      </p:sp>
      <p:sp>
        <p:nvSpPr>
          <p:cNvPr id="4" name="Rectangle 3"/>
          <p:cNvSpPr/>
          <p:nvPr/>
        </p:nvSpPr>
        <p:spPr>
          <a:xfrm>
            <a:off x="812800" y="1174750"/>
            <a:ext cx="762000" cy="38100"/>
          </a:xfrm>
          <a:prstGeom prst="rect">
            <a:avLst/>
          </a:prstGeom>
          <a:solidFill>
            <a:srgbClr val="B45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pipeline.png"/>
          <p:cNvPicPr>
            <a:picLocks noChangeAspect="1"/>
          </p:cNvPicPr>
          <p:nvPr/>
        </p:nvPicPr>
        <p:blipFill>
          <a:blip r:embed="rId2"/>
          <a:stretch>
            <a:fillRect/>
          </a:stretch>
        </p:blipFill>
        <p:spPr>
          <a:xfrm>
            <a:off x="812800" y="1574139"/>
            <a:ext cx="5715000" cy="4249470"/>
          </a:xfrm>
          <a:prstGeom prst="rect">
            <a:avLst/>
          </a:prstGeom>
        </p:spPr>
      </p:pic>
      <p:sp>
        <p:nvSpPr>
          <p:cNvPr id="6" name="TextBox 5"/>
          <p:cNvSpPr txBox="1"/>
          <p:nvPr/>
        </p:nvSpPr>
        <p:spPr>
          <a:xfrm>
            <a:off x="6921500" y="1492250"/>
            <a:ext cx="4457700" cy="639826"/>
          </a:xfrm>
          <a:prstGeom prst="rect">
            <a:avLst/>
          </a:prstGeom>
          <a:noFill/>
        </p:spPr>
        <p:txBody>
          <a:bodyPr wrap="square" lIns="0" rIns="0" tIns="0" bIns="0">
            <a:spAutoFit/>
          </a:bodyPr>
          <a:lstStyle/>
          <a:p>
            <a:pPr algn="l">
              <a:lnSpc>
                <a:spcPct val="118000"/>
              </a:lnSpc>
              <a:spcAft>
                <a:spcPts val="200"/>
              </a:spcAft>
            </a:pPr>
            <a:r>
              <a:rPr sz="2200" b="1">
                <a:solidFill>
                  <a:srgbClr val="1B2638"/>
                </a:solidFill>
                <a:latin typeface="Calibri"/>
              </a:rPr>
              <a:t>4.17 ns edge timing</a:t>
            </a:r>
          </a:p>
          <a:p>
            <a:pPr algn="l">
              <a:lnSpc>
                <a:spcPct val="118000"/>
              </a:lnSpc>
              <a:spcAft>
                <a:spcPts val="0"/>
              </a:spcAft>
            </a:pPr>
            <a:r>
              <a:rPr sz="1900" b="0">
                <a:solidFill>
                  <a:srgbClr val="3F4A5C"/>
                </a:solidFill>
                <a:latin typeface="Calibri"/>
              </a:rPr>
              <a:t>CPU cycle counter, no SDR or ADC</a:t>
            </a:r>
          </a:p>
        </p:txBody>
      </p:sp>
      <p:sp>
        <p:nvSpPr>
          <p:cNvPr id="7" name="TextBox 6"/>
          <p:cNvSpPr txBox="1"/>
          <p:nvPr/>
        </p:nvSpPr>
        <p:spPr>
          <a:xfrm>
            <a:off x="6921500" y="2386076"/>
            <a:ext cx="4457700" cy="924560"/>
          </a:xfrm>
          <a:prstGeom prst="rect">
            <a:avLst/>
          </a:prstGeom>
          <a:noFill/>
        </p:spPr>
        <p:txBody>
          <a:bodyPr wrap="square" lIns="0" rIns="0" tIns="0" bIns="0">
            <a:spAutoFit/>
          </a:bodyPr>
          <a:lstStyle/>
          <a:p>
            <a:pPr algn="l">
              <a:lnSpc>
                <a:spcPct val="118000"/>
              </a:lnSpc>
              <a:spcAft>
                <a:spcPts val="200"/>
              </a:spcAft>
            </a:pPr>
            <a:r>
              <a:rPr sz="2200" b="1">
                <a:solidFill>
                  <a:srgbClr val="1B2638"/>
                </a:solidFill>
                <a:latin typeface="Calibri"/>
              </a:rPr>
              <a:t>Distortion-proof clock</a:t>
            </a:r>
          </a:p>
          <a:p>
            <a:pPr algn="l">
              <a:lnSpc>
                <a:spcPct val="118000"/>
              </a:lnSpc>
              <a:spcAft>
                <a:spcPts val="0"/>
              </a:spcAft>
            </a:pPr>
            <a:r>
              <a:rPr sz="1900" b="0">
                <a:solidFill>
                  <a:srgbClr val="3F4A5C"/>
                </a:solidFill>
                <a:latin typeface="Calibri"/>
              </a:rPr>
              <a:t>Pair period 4T + 31T sync cancel receiver bias</a:t>
            </a:r>
          </a:p>
        </p:txBody>
      </p:sp>
      <p:sp>
        <p:nvSpPr>
          <p:cNvPr id="8" name="TextBox 7"/>
          <p:cNvSpPr txBox="1"/>
          <p:nvPr/>
        </p:nvSpPr>
        <p:spPr>
          <a:xfrm>
            <a:off x="6921500" y="3564636"/>
            <a:ext cx="4457700" cy="639826"/>
          </a:xfrm>
          <a:prstGeom prst="rect">
            <a:avLst/>
          </a:prstGeom>
          <a:noFill/>
        </p:spPr>
        <p:txBody>
          <a:bodyPr wrap="square" lIns="0" rIns="0" tIns="0" bIns="0">
            <a:spAutoFit/>
          </a:bodyPr>
          <a:lstStyle/>
          <a:p>
            <a:pPr algn="l">
              <a:lnSpc>
                <a:spcPct val="118000"/>
              </a:lnSpc>
              <a:spcAft>
                <a:spcPts val="200"/>
              </a:spcAft>
            </a:pPr>
            <a:r>
              <a:rPr sz="2200" b="1">
                <a:solidFill>
                  <a:srgbClr val="1B2638"/>
                </a:solidFill>
                <a:latin typeface="Calibri"/>
              </a:rPr>
              <a:t>11 features → EdgeMLP</a:t>
            </a:r>
          </a:p>
          <a:p>
            <a:pPr algn="l">
              <a:lnSpc>
                <a:spcPct val="118000"/>
              </a:lnSpc>
              <a:spcAft>
                <a:spcPts val="0"/>
              </a:spcAft>
            </a:pPr>
            <a:r>
              <a:rPr sz="1900" b="0">
                <a:solidFill>
                  <a:srgbClr val="3F4A5C"/>
                </a:solidFill>
                <a:latin typeface="Calibri"/>
              </a:rPr>
              <a:t>963 parameters, 7 KB on the chip</a:t>
            </a:r>
          </a:p>
        </p:txBody>
      </p:sp>
      <p:sp>
        <p:nvSpPr>
          <p:cNvPr id="9" name="TextBox 8"/>
          <p:cNvSpPr txBox="1"/>
          <p:nvPr/>
        </p:nvSpPr>
        <p:spPr>
          <a:xfrm>
            <a:off x="6921500" y="4458462"/>
            <a:ext cx="4457700" cy="924560"/>
          </a:xfrm>
          <a:prstGeom prst="rect">
            <a:avLst/>
          </a:prstGeom>
          <a:noFill/>
        </p:spPr>
        <p:txBody>
          <a:bodyPr wrap="square" lIns="0" rIns="0" tIns="0" bIns="0">
            <a:spAutoFit/>
          </a:bodyPr>
          <a:lstStyle/>
          <a:p>
            <a:pPr algn="l">
              <a:lnSpc>
                <a:spcPct val="118000"/>
              </a:lnSpc>
              <a:spcAft>
                <a:spcPts val="200"/>
              </a:spcAft>
            </a:pPr>
            <a:r>
              <a:rPr sz="2200" b="1">
                <a:solidFill>
                  <a:srgbClr val="1B2638"/>
                </a:solidFill>
                <a:latin typeface="Calibri"/>
              </a:rPr>
              <a:t>Open-set decision</a:t>
            </a:r>
          </a:p>
          <a:p>
            <a:pPr algn="l">
              <a:lnSpc>
                <a:spcPct val="118000"/>
              </a:lnSpc>
              <a:spcAft>
                <a:spcPts val="0"/>
              </a:spcAft>
            </a:pPr>
            <a:r>
              <a:rPr sz="1900" b="0">
                <a:solidFill>
                  <a:srgbClr val="3F4A5C"/>
                </a:solidFill>
                <a:latin typeface="Calibri"/>
              </a:rPr>
              <a:t>Mahalanobis score; median of 4 frames ≤ 1</a:t>
            </a:r>
          </a:p>
        </p:txBody>
      </p:sp>
      <p:sp>
        <p:nvSpPr>
          <p:cNvPr id="10" name="TextBox 9"/>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a:t>
            </a:r>
          </a:p>
        </p:txBody>
      </p:sp>
      <p:sp>
        <p:nvSpPr>
          <p:cNvPr id="11" name="TextBox 10"/>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F1F6"/>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B4531A"/>
                </a:solidFill>
                <a:latin typeface="Calibri"/>
              </a:rPr>
              <a:t>OUR WORK · RESULTS</a:t>
            </a:r>
          </a:p>
        </p:txBody>
      </p:sp>
      <p:sp>
        <p:nvSpPr>
          <p:cNvPr id="3" name="TextBox 2"/>
          <p:cNvSpPr txBox="1"/>
          <p:nvPr/>
        </p:nvSpPr>
        <p:spPr>
          <a:xfrm>
            <a:off x="812800" y="660400"/>
            <a:ext cx="10566400" cy="45085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Clones rejected, and a two-factor smart lock</a:t>
            </a:r>
          </a:p>
        </p:txBody>
      </p:sp>
      <p:sp>
        <p:nvSpPr>
          <p:cNvPr id="4" name="Rectangle 3"/>
          <p:cNvSpPr/>
          <p:nvPr/>
        </p:nvSpPr>
        <p:spPr>
          <a:xfrm>
            <a:off x="812800" y="1174750"/>
            <a:ext cx="762000" cy="38100"/>
          </a:xfrm>
          <a:prstGeom prst="rect">
            <a:avLst/>
          </a:prstGeom>
          <a:solidFill>
            <a:srgbClr val="B45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12800" y="1428750"/>
            <a:ext cx="2413000" cy="1206500"/>
          </a:xfrm>
          <a:prstGeom prst="roundRect">
            <a:avLst>
              <a:gd name="adj" fmla="val 7368"/>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0600" y="1606550"/>
            <a:ext cx="2095500" cy="805941"/>
          </a:xfrm>
          <a:prstGeom prst="rect">
            <a:avLst/>
          </a:prstGeom>
          <a:noFill/>
        </p:spPr>
        <p:txBody>
          <a:bodyPr wrap="square" lIns="0" rIns="0" tIns="0" bIns="0">
            <a:spAutoFit/>
          </a:bodyPr>
          <a:lstStyle/>
          <a:p>
            <a:pPr algn="l">
              <a:lnSpc>
                <a:spcPct val="118000"/>
              </a:lnSpc>
              <a:spcAft>
                <a:spcPts val="400"/>
              </a:spcAft>
            </a:pPr>
            <a:r>
              <a:rPr sz="3100" b="1">
                <a:solidFill>
                  <a:srgbClr val="0E6E73"/>
                </a:solidFill>
                <a:latin typeface="Georgia"/>
              </a:rPr>
              <a:t>100 %</a:t>
            </a:r>
          </a:p>
          <a:p>
            <a:pPr algn="l">
              <a:lnSpc>
                <a:spcPct val="118000"/>
              </a:lnSpc>
              <a:spcAft>
                <a:spcPts val="400"/>
              </a:spcAft>
            </a:pPr>
            <a:r>
              <a:rPr sz="1600" b="0">
                <a:solidFill>
                  <a:srgbClr val="3F4A5C"/>
                </a:solidFill>
                <a:latin typeface="Calibri"/>
              </a:rPr>
              <a:t>closed-set accuracy</a:t>
            </a:r>
          </a:p>
        </p:txBody>
      </p:sp>
      <p:sp>
        <p:nvSpPr>
          <p:cNvPr id="7" name="Rounded Rectangle 6"/>
          <p:cNvSpPr/>
          <p:nvPr/>
        </p:nvSpPr>
        <p:spPr>
          <a:xfrm>
            <a:off x="3352800" y="1428750"/>
            <a:ext cx="2413000" cy="1206500"/>
          </a:xfrm>
          <a:prstGeom prst="roundRect">
            <a:avLst>
              <a:gd name="adj" fmla="val 7368"/>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30600" y="1606550"/>
            <a:ext cx="2095500" cy="805941"/>
          </a:xfrm>
          <a:prstGeom prst="rect">
            <a:avLst/>
          </a:prstGeom>
          <a:noFill/>
        </p:spPr>
        <p:txBody>
          <a:bodyPr wrap="square" lIns="0" rIns="0" tIns="0" bIns="0">
            <a:spAutoFit/>
          </a:bodyPr>
          <a:lstStyle/>
          <a:p>
            <a:pPr algn="l">
              <a:lnSpc>
                <a:spcPct val="118000"/>
              </a:lnSpc>
              <a:spcAft>
                <a:spcPts val="400"/>
              </a:spcAft>
            </a:pPr>
            <a:r>
              <a:rPr sz="3100" b="1">
                <a:solidFill>
                  <a:srgbClr val="0E6E73"/>
                </a:solidFill>
                <a:latin typeface="Georgia"/>
              </a:rPr>
              <a:t>0.49 %</a:t>
            </a:r>
          </a:p>
          <a:p>
            <a:pPr algn="l">
              <a:lnSpc>
                <a:spcPct val="118000"/>
              </a:lnSpc>
              <a:spcAft>
                <a:spcPts val="400"/>
              </a:spcAft>
            </a:pPr>
            <a:r>
              <a:rPr sz="1600" b="0">
                <a:solidFill>
                  <a:srgbClr val="3F4A5C"/>
                </a:solidFill>
                <a:latin typeface="Calibri"/>
              </a:rPr>
              <a:t>frame EER</a:t>
            </a:r>
          </a:p>
        </p:txBody>
      </p:sp>
      <p:sp>
        <p:nvSpPr>
          <p:cNvPr id="9" name="Rounded Rectangle 8"/>
          <p:cNvSpPr/>
          <p:nvPr/>
        </p:nvSpPr>
        <p:spPr>
          <a:xfrm>
            <a:off x="812800" y="2794000"/>
            <a:ext cx="2413000" cy="1206500"/>
          </a:xfrm>
          <a:prstGeom prst="roundRect">
            <a:avLst>
              <a:gd name="adj" fmla="val 7368"/>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0600" y="2971800"/>
            <a:ext cx="2095500" cy="805941"/>
          </a:xfrm>
          <a:prstGeom prst="rect">
            <a:avLst/>
          </a:prstGeom>
          <a:noFill/>
        </p:spPr>
        <p:txBody>
          <a:bodyPr wrap="square" lIns="0" rIns="0" tIns="0" bIns="0">
            <a:spAutoFit/>
          </a:bodyPr>
          <a:lstStyle/>
          <a:p>
            <a:pPr algn="l">
              <a:lnSpc>
                <a:spcPct val="118000"/>
              </a:lnSpc>
              <a:spcAft>
                <a:spcPts val="400"/>
              </a:spcAft>
            </a:pPr>
            <a:r>
              <a:rPr sz="3100" b="1">
                <a:solidFill>
                  <a:srgbClr val="B4531A"/>
                </a:solidFill>
                <a:latin typeface="Georgia"/>
              </a:rPr>
              <a:t>30 / 30</a:t>
            </a:r>
          </a:p>
          <a:p>
            <a:pPr algn="l">
              <a:lnSpc>
                <a:spcPct val="118000"/>
              </a:lnSpc>
              <a:spcAft>
                <a:spcPts val="400"/>
              </a:spcAft>
            </a:pPr>
            <a:r>
              <a:rPr sz="1600" b="0">
                <a:solidFill>
                  <a:srgbClr val="3F4A5C"/>
                </a:solidFill>
                <a:latin typeface="Calibri"/>
              </a:rPr>
              <a:t>clone bursts rejected</a:t>
            </a:r>
          </a:p>
        </p:txBody>
      </p:sp>
      <p:sp>
        <p:nvSpPr>
          <p:cNvPr id="11" name="Rounded Rectangle 10"/>
          <p:cNvSpPr/>
          <p:nvPr/>
        </p:nvSpPr>
        <p:spPr>
          <a:xfrm>
            <a:off x="3352800" y="2794000"/>
            <a:ext cx="2413000" cy="1206500"/>
          </a:xfrm>
          <a:prstGeom prst="roundRect">
            <a:avLst>
              <a:gd name="adj" fmla="val 7368"/>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0600" y="2971800"/>
            <a:ext cx="2095500" cy="1045717"/>
          </a:xfrm>
          <a:prstGeom prst="rect">
            <a:avLst/>
          </a:prstGeom>
          <a:noFill/>
        </p:spPr>
        <p:txBody>
          <a:bodyPr wrap="square" lIns="0" rIns="0" tIns="0" bIns="0">
            <a:spAutoFit/>
          </a:bodyPr>
          <a:lstStyle/>
          <a:p>
            <a:pPr algn="l">
              <a:lnSpc>
                <a:spcPct val="118000"/>
              </a:lnSpc>
              <a:spcAft>
                <a:spcPts val="400"/>
              </a:spcAft>
            </a:pPr>
            <a:r>
              <a:rPr sz="3100" b="1">
                <a:solidFill>
                  <a:srgbClr val="B4531A"/>
                </a:solidFill>
                <a:latin typeface="Georgia"/>
              </a:rPr>
              <a:t>30 / 30</a:t>
            </a:r>
          </a:p>
          <a:p>
            <a:pPr algn="l">
              <a:lnSpc>
                <a:spcPct val="118000"/>
              </a:lnSpc>
              <a:spcAft>
                <a:spcPts val="400"/>
              </a:spcAft>
            </a:pPr>
            <a:r>
              <a:rPr sz="1600" b="0">
                <a:solidFill>
                  <a:srgbClr val="3F4A5C"/>
                </a:solidFill>
                <a:latin typeface="Calibri"/>
              </a:rPr>
              <a:t>unknown bursts rejected</a:t>
            </a:r>
          </a:p>
        </p:txBody>
      </p:sp>
      <p:sp>
        <p:nvSpPr>
          <p:cNvPr id="13" name="Rounded Rectangle 12"/>
          <p:cNvSpPr/>
          <p:nvPr/>
        </p:nvSpPr>
        <p:spPr>
          <a:xfrm>
            <a:off x="812800" y="4159250"/>
            <a:ext cx="2413000" cy="1206500"/>
          </a:xfrm>
          <a:prstGeom prst="roundRect">
            <a:avLst>
              <a:gd name="adj" fmla="val 7368"/>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0600" y="4337050"/>
            <a:ext cx="2095500" cy="805941"/>
          </a:xfrm>
          <a:prstGeom prst="rect">
            <a:avLst/>
          </a:prstGeom>
          <a:noFill/>
        </p:spPr>
        <p:txBody>
          <a:bodyPr wrap="square" lIns="0" rIns="0" tIns="0" bIns="0">
            <a:spAutoFit/>
          </a:bodyPr>
          <a:lstStyle/>
          <a:p>
            <a:pPr algn="l">
              <a:lnSpc>
                <a:spcPct val="118000"/>
              </a:lnSpc>
              <a:spcAft>
                <a:spcPts val="400"/>
              </a:spcAft>
            </a:pPr>
            <a:r>
              <a:rPr sz="3100" b="1">
                <a:solidFill>
                  <a:srgbClr val="0E6E73"/>
                </a:solidFill>
                <a:latin typeface="Georgia"/>
              </a:rPr>
              <a:t>≈ 172 ms</a:t>
            </a:r>
          </a:p>
          <a:p>
            <a:pPr algn="l">
              <a:lnSpc>
                <a:spcPct val="118000"/>
              </a:lnSpc>
              <a:spcAft>
                <a:spcPts val="400"/>
              </a:spcAft>
            </a:pPr>
            <a:r>
              <a:rPr sz="1600" b="0">
                <a:solidFill>
                  <a:srgbClr val="3F4A5C"/>
                </a:solidFill>
                <a:latin typeface="Calibri"/>
              </a:rPr>
              <a:t>decision time</a:t>
            </a:r>
          </a:p>
        </p:txBody>
      </p:sp>
      <p:sp>
        <p:nvSpPr>
          <p:cNvPr id="15" name="Rounded Rectangle 14"/>
          <p:cNvSpPr/>
          <p:nvPr/>
        </p:nvSpPr>
        <p:spPr>
          <a:xfrm>
            <a:off x="3352800" y="4159250"/>
            <a:ext cx="2413000" cy="1206500"/>
          </a:xfrm>
          <a:prstGeom prst="roundRect">
            <a:avLst>
              <a:gd name="adj" fmla="val 7368"/>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600" y="4337050"/>
            <a:ext cx="2095500" cy="805941"/>
          </a:xfrm>
          <a:prstGeom prst="rect">
            <a:avLst/>
          </a:prstGeom>
          <a:noFill/>
        </p:spPr>
        <p:txBody>
          <a:bodyPr wrap="square" lIns="0" rIns="0" tIns="0" bIns="0">
            <a:spAutoFit/>
          </a:bodyPr>
          <a:lstStyle/>
          <a:p>
            <a:pPr algn="l">
              <a:lnSpc>
                <a:spcPct val="118000"/>
              </a:lnSpc>
              <a:spcAft>
                <a:spcPts val="400"/>
              </a:spcAft>
            </a:pPr>
            <a:r>
              <a:rPr sz="3100" b="1">
                <a:solidFill>
                  <a:srgbClr val="0E6E73"/>
                </a:solidFill>
                <a:latin typeface="Georgia"/>
              </a:rPr>
              <a:t>7 KB</a:t>
            </a:r>
          </a:p>
          <a:p>
            <a:pPr algn="l">
              <a:lnSpc>
                <a:spcPct val="118000"/>
              </a:lnSpc>
              <a:spcAft>
                <a:spcPts val="400"/>
              </a:spcAft>
            </a:pPr>
            <a:r>
              <a:rPr sz="1600" b="0">
                <a:solidFill>
                  <a:srgbClr val="3F4A5C"/>
                </a:solidFill>
                <a:latin typeface="Calibri"/>
              </a:rPr>
              <a:t>model on the ESP32</a:t>
            </a:r>
          </a:p>
        </p:txBody>
      </p:sp>
      <p:pic>
        <p:nvPicPr>
          <p:cNvPr id="17" name="Picture 16" descr="fig_lock_fsm.png"/>
          <p:cNvPicPr>
            <a:picLocks noChangeAspect="1"/>
          </p:cNvPicPr>
          <p:nvPr/>
        </p:nvPicPr>
        <p:blipFill>
          <a:blip r:embed="rId2"/>
          <a:stretch>
            <a:fillRect/>
          </a:stretch>
        </p:blipFill>
        <p:spPr>
          <a:xfrm>
            <a:off x="6096000" y="1476842"/>
            <a:ext cx="5283200" cy="2380315"/>
          </a:xfrm>
          <a:prstGeom prst="rect">
            <a:avLst/>
          </a:prstGeom>
        </p:spPr>
      </p:pic>
      <p:sp>
        <p:nvSpPr>
          <p:cNvPr id="18" name="TextBox 17"/>
          <p:cNvSpPr txBox="1"/>
          <p:nvPr/>
        </p:nvSpPr>
        <p:spPr>
          <a:xfrm>
            <a:off x="6096000" y="4095750"/>
            <a:ext cx="5283200" cy="1570228"/>
          </a:xfrm>
          <a:prstGeom prst="rect">
            <a:avLst/>
          </a:prstGeom>
          <a:noFill/>
        </p:spPr>
        <p:txBody>
          <a:bodyPr wrap="square" lIns="0" rIns="0" tIns="0" bIns="0">
            <a:spAutoFit/>
          </a:bodyPr>
          <a:lstStyle/>
          <a:p>
            <a:pPr algn="l">
              <a:lnSpc>
                <a:spcPct val="118000"/>
              </a:lnSpc>
              <a:spcAft>
                <a:spcPts val="400"/>
              </a:spcAft>
            </a:pPr>
            <a:r>
              <a:rPr sz="2200" b="1">
                <a:solidFill>
                  <a:srgbClr val="1B2638"/>
                </a:solidFill>
                <a:latin typeface="Calibri"/>
              </a:rPr>
              <a:t>Two-factor smart lock</a:t>
            </a:r>
          </a:p>
          <a:p>
            <a:pPr algn="l">
              <a:lnSpc>
                <a:spcPct val="118000"/>
              </a:lnSpc>
              <a:spcAft>
                <a:spcPts val="400"/>
              </a:spcAft>
            </a:pPr>
            <a:r>
              <a:rPr sz="1900" b="0">
                <a:solidFill>
                  <a:srgbClr val="3F4A5C"/>
                </a:solidFill>
                <a:latin typeface="Calibri"/>
              </a:rPr>
              <a:t>Opens only for the </a:t>
            </a:r>
            <a:r>
              <a:rPr sz="1900" b="1">
                <a:solidFill>
                  <a:srgbClr val="3F4A5C"/>
                </a:solidFill>
                <a:latin typeface="Calibri"/>
              </a:rPr>
              <a:t>right remote</a:t>
            </a:r>
            <a:r>
              <a:rPr sz="1900" b="0">
                <a:solidFill>
                  <a:srgbClr val="3F4A5C"/>
                </a:solidFill>
                <a:latin typeface="Calibri"/>
              </a:rPr>
              <a:t> (RF fingerprint) and the </a:t>
            </a:r>
            <a:r>
              <a:rPr sz="1900" b="1">
                <a:solidFill>
                  <a:srgbClr val="3F4A5C"/>
                </a:solidFill>
                <a:latin typeface="Calibri"/>
              </a:rPr>
              <a:t>right ON/OFF pattern</a:t>
            </a:r>
            <a:r>
              <a:rPr sz="1900" b="0">
                <a:solidFill>
                  <a:srgbClr val="3F4A5C"/>
                </a:solidFill>
                <a:latin typeface="Calibri"/>
              </a:rPr>
              <a:t>. A clone with the correct pattern still fails; 3 failures cause a lockout.</a:t>
            </a:r>
          </a:p>
        </p:txBody>
      </p:sp>
      <p:sp>
        <p:nvSpPr>
          <p:cNvPr id="19" name="TextBox 18"/>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 · held-out real captures</a:t>
            </a:r>
          </a:p>
        </p:txBody>
      </p:sp>
      <p:sp>
        <p:nvSpPr>
          <p:cNvPr id="20" name="TextBox 19"/>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812800" y="444500"/>
            <a:ext cx="10566400" cy="245618"/>
          </a:xfrm>
          <a:prstGeom prst="rect">
            <a:avLst/>
          </a:prstGeom>
          <a:noFill/>
        </p:spPr>
        <p:txBody>
          <a:bodyPr wrap="square" lIns="0" rIns="0" tIns="0" bIns="0">
            <a:spAutoFit/>
          </a:bodyPr>
          <a:lstStyle/>
          <a:p>
            <a:pPr algn="l">
              <a:lnSpc>
                <a:spcPct val="118000"/>
              </a:lnSpc>
              <a:spcAft>
                <a:spcPts val="400"/>
              </a:spcAft>
            </a:pPr>
            <a:r>
              <a:rPr sz="1300" b="1">
                <a:solidFill>
                  <a:srgbClr val="0E6E73"/>
                </a:solidFill>
                <a:latin typeface="Calibri"/>
              </a:rPr>
              <a:t>CONCLUSION</a:t>
            </a:r>
          </a:p>
        </p:txBody>
      </p:sp>
      <p:sp>
        <p:nvSpPr>
          <p:cNvPr id="3" name="TextBox 2"/>
          <p:cNvSpPr txBox="1"/>
          <p:nvPr/>
        </p:nvSpPr>
        <p:spPr>
          <a:xfrm>
            <a:off x="812800" y="660400"/>
            <a:ext cx="10566400" cy="450850"/>
          </a:xfrm>
          <a:prstGeom prst="rect">
            <a:avLst/>
          </a:prstGeom>
          <a:noFill/>
        </p:spPr>
        <p:txBody>
          <a:bodyPr wrap="square" lIns="0" rIns="0" tIns="0" bIns="0">
            <a:spAutoFit/>
          </a:bodyPr>
          <a:lstStyle/>
          <a:p>
            <a:pPr algn="l">
              <a:lnSpc>
                <a:spcPct val="105000"/>
              </a:lnSpc>
              <a:spcAft>
                <a:spcPts val="400"/>
              </a:spcAft>
            </a:pPr>
            <a:r>
              <a:rPr sz="3000" b="1">
                <a:solidFill>
                  <a:srgbClr val="1B2638"/>
                </a:solidFill>
                <a:latin typeface="Georgia"/>
              </a:rPr>
              <a:t>From lab instruments to a $5 microcontroller</a:t>
            </a:r>
          </a:p>
        </p:txBody>
      </p:sp>
      <p:sp>
        <p:nvSpPr>
          <p:cNvPr id="4" name="Rectangle 3"/>
          <p:cNvSpPr/>
          <p:nvPr/>
        </p:nvSpPr>
        <p:spPr>
          <a:xfrm>
            <a:off x="812800" y="1174750"/>
            <a:ext cx="762000" cy="38100"/>
          </a:xfrm>
          <a:prstGeom prst="rect">
            <a:avLst/>
          </a:prstGeom>
          <a:solidFill>
            <a:srgbClr val="0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428750"/>
            <a:ext cx="5080000" cy="2899664"/>
          </a:xfrm>
          <a:prstGeom prst="rect">
            <a:avLst/>
          </a:prstGeom>
          <a:noFill/>
        </p:spPr>
        <p:txBody>
          <a:bodyPr wrap="square" lIns="0" rIns="0" tIns="0" bIns="0">
            <a:spAutoFit/>
          </a:bodyPr>
          <a:lstStyle/>
          <a:p>
            <a:pPr algn="l">
              <a:lnSpc>
                <a:spcPct val="118000"/>
              </a:lnSpc>
              <a:spcAft>
                <a:spcPts val="700"/>
              </a:spcAft>
            </a:pPr>
            <a:r>
              <a:rPr sz="2200" b="1">
                <a:solidFill>
                  <a:srgbClr val="1B2638"/>
                </a:solidFill>
                <a:latin typeface="Calibri"/>
              </a:rPr>
              <a:t>Key points</a:t>
            </a:r>
          </a:p>
          <a:p>
            <a:pPr algn="l">
              <a:lnSpc>
                <a:spcPct val="118000"/>
              </a:lnSpc>
              <a:spcAft>
                <a:spcPts val="400"/>
              </a:spcAft>
            </a:pPr>
            <a:r>
              <a:rPr sz="1900" b="0">
                <a:solidFill>
                  <a:srgbClr val="3F4A5C"/>
                </a:solidFill>
                <a:latin typeface="Calibri"/>
              </a:rPr>
              <a:t>•  Hardware imperfections identify a transmitter beyond its data</a:t>
            </a:r>
          </a:p>
          <a:p>
            <a:pPr algn="l">
              <a:lnSpc>
                <a:spcPct val="118000"/>
              </a:lnSpc>
              <a:spcAft>
                <a:spcPts val="400"/>
              </a:spcAft>
            </a:pPr>
            <a:r>
              <a:rPr sz="1900" b="0">
                <a:solidFill>
                  <a:srgbClr val="3F4A5C"/>
                </a:solidFill>
                <a:latin typeface="Calibri"/>
              </a:rPr>
              <a:t>•  Research moved from clock skew and transients to deep learning on SDR I/Q</a:t>
            </a:r>
          </a:p>
          <a:p>
            <a:pPr algn="l">
              <a:lnSpc>
                <a:spcPct val="118000"/>
              </a:lnSpc>
              <a:spcAft>
                <a:spcPts val="400"/>
              </a:spcAft>
            </a:pPr>
            <a:r>
              <a:rPr sz="1900" b="0">
                <a:solidFill>
                  <a:srgbClr val="3F4A5C"/>
                </a:solidFill>
                <a:latin typeface="Calibri"/>
              </a:rPr>
              <a:t>•  Open problems: cost, channel and receiver effects, unknown attackers</a:t>
            </a:r>
          </a:p>
          <a:p>
            <a:pPr algn="l">
              <a:lnSpc>
                <a:spcPct val="118000"/>
              </a:lnSpc>
              <a:spcAft>
                <a:spcPts val="400"/>
              </a:spcAft>
            </a:pPr>
            <a:r>
              <a:rPr sz="1900" b="0">
                <a:solidFill>
                  <a:srgbClr val="3F4A5C"/>
                </a:solidFill>
                <a:latin typeface="Calibri"/>
              </a:rPr>
              <a:t>•  PhyAuth-RF runs a timing fingerprint on-chip at low cost</a:t>
            </a:r>
          </a:p>
        </p:txBody>
      </p:sp>
      <p:sp>
        <p:nvSpPr>
          <p:cNvPr id="6" name="TextBox 5"/>
          <p:cNvSpPr txBox="1"/>
          <p:nvPr/>
        </p:nvSpPr>
        <p:spPr>
          <a:xfrm>
            <a:off x="6350000" y="1428750"/>
            <a:ext cx="5029200" cy="3255771"/>
          </a:xfrm>
          <a:prstGeom prst="rect">
            <a:avLst/>
          </a:prstGeom>
          <a:noFill/>
        </p:spPr>
        <p:txBody>
          <a:bodyPr wrap="square" lIns="0" rIns="0" tIns="0" bIns="0">
            <a:spAutoFit/>
          </a:bodyPr>
          <a:lstStyle/>
          <a:p>
            <a:pPr algn="l">
              <a:lnSpc>
                <a:spcPct val="118000"/>
              </a:lnSpc>
              <a:spcAft>
                <a:spcPts val="600"/>
              </a:spcAft>
            </a:pPr>
            <a:r>
              <a:rPr sz="2200" b="1">
                <a:solidFill>
                  <a:srgbClr val="1B2638"/>
                </a:solidFill>
                <a:latin typeface="Calibri"/>
              </a:rPr>
              <a:t>References</a:t>
            </a:r>
          </a:p>
          <a:p>
            <a:pPr algn="l">
              <a:lnSpc>
                <a:spcPct val="118000"/>
              </a:lnSpc>
              <a:spcAft>
                <a:spcPts val="100"/>
              </a:spcAft>
            </a:pPr>
            <a:r>
              <a:rPr sz="1500" b="0">
                <a:solidFill>
                  <a:srgbClr val="3F4A5C"/>
                </a:solidFill>
                <a:latin typeface="Calibri"/>
              </a:rPr>
              <a:t>Kohno et al., IEEE TDSC 2005</a:t>
            </a:r>
          </a:p>
          <a:p>
            <a:pPr algn="l">
              <a:lnSpc>
                <a:spcPct val="118000"/>
              </a:lnSpc>
              <a:spcAft>
                <a:spcPts val="100"/>
              </a:spcAft>
            </a:pPr>
            <a:r>
              <a:rPr sz="1500" b="0">
                <a:solidFill>
                  <a:srgbClr val="3F4A5C"/>
                </a:solidFill>
                <a:latin typeface="Calibri"/>
              </a:rPr>
              <a:t>Jana &amp; Kasera, IEEE TMC 2010</a:t>
            </a:r>
          </a:p>
          <a:p>
            <a:pPr algn="l">
              <a:lnSpc>
                <a:spcPct val="118000"/>
              </a:lnSpc>
              <a:spcAft>
                <a:spcPts val="100"/>
              </a:spcAft>
            </a:pPr>
            <a:r>
              <a:rPr sz="1500" b="0">
                <a:solidFill>
                  <a:srgbClr val="3F4A5C"/>
                </a:solidFill>
                <a:latin typeface="Calibri"/>
              </a:rPr>
              <a:t>Ureten &amp; Serinken, Can. J. ECE 2007</a:t>
            </a:r>
          </a:p>
          <a:p>
            <a:pPr algn="l">
              <a:lnSpc>
                <a:spcPct val="118000"/>
              </a:lnSpc>
              <a:spcAft>
                <a:spcPts val="100"/>
              </a:spcAft>
            </a:pPr>
            <a:r>
              <a:rPr sz="1500" b="0">
                <a:solidFill>
                  <a:srgbClr val="3F4A5C"/>
                </a:solidFill>
                <a:latin typeface="Calibri"/>
              </a:rPr>
              <a:t>Danev &amp; Čapkun, IPSN 2009</a:t>
            </a:r>
          </a:p>
          <a:p>
            <a:pPr algn="l">
              <a:lnSpc>
                <a:spcPct val="118000"/>
              </a:lnSpc>
              <a:spcAft>
                <a:spcPts val="100"/>
              </a:spcAft>
            </a:pPr>
            <a:r>
              <a:rPr sz="1500" b="0">
                <a:solidFill>
                  <a:srgbClr val="3F4A5C"/>
                </a:solidFill>
                <a:latin typeface="Calibri"/>
              </a:rPr>
              <a:t>Brik et al., ACM MobiCom 2008</a:t>
            </a:r>
          </a:p>
          <a:p>
            <a:pPr algn="l">
              <a:lnSpc>
                <a:spcPct val="118000"/>
              </a:lnSpc>
              <a:spcAft>
                <a:spcPts val="100"/>
              </a:spcAft>
            </a:pPr>
            <a:r>
              <a:rPr sz="1500" b="0">
                <a:solidFill>
                  <a:srgbClr val="3F4A5C"/>
                </a:solidFill>
                <a:latin typeface="Calibri"/>
              </a:rPr>
              <a:t>Danev et al., ACM Comput. Surv. 2012</a:t>
            </a:r>
          </a:p>
          <a:p>
            <a:pPr algn="l">
              <a:lnSpc>
                <a:spcPct val="118000"/>
              </a:lnSpc>
              <a:spcAft>
                <a:spcPts val="100"/>
              </a:spcAft>
            </a:pPr>
            <a:r>
              <a:rPr sz="1500" b="0">
                <a:solidFill>
                  <a:srgbClr val="3F4A5C"/>
                </a:solidFill>
                <a:latin typeface="Calibri"/>
              </a:rPr>
              <a:t>Merchant et al., IEEE JSTSP 2018</a:t>
            </a:r>
          </a:p>
          <a:p>
            <a:pPr algn="l">
              <a:lnSpc>
                <a:spcPct val="118000"/>
              </a:lnSpc>
              <a:spcAft>
                <a:spcPts val="100"/>
              </a:spcAft>
            </a:pPr>
            <a:r>
              <a:rPr sz="1500" b="0">
                <a:solidFill>
                  <a:srgbClr val="3F4A5C"/>
                </a:solidFill>
                <a:latin typeface="Calibri"/>
              </a:rPr>
              <a:t>Riyaz et al., IEEE Commun. Mag. 2018</a:t>
            </a:r>
          </a:p>
          <a:p>
            <a:pPr algn="l">
              <a:lnSpc>
                <a:spcPct val="118000"/>
              </a:lnSpc>
              <a:spcAft>
                <a:spcPts val="100"/>
              </a:spcAft>
            </a:pPr>
            <a:r>
              <a:rPr sz="1500" b="0">
                <a:solidFill>
                  <a:srgbClr val="3F4A5C"/>
                </a:solidFill>
                <a:latin typeface="Calibri"/>
              </a:rPr>
              <a:t>Sankhe et al., IEEE INFOCOM 2019</a:t>
            </a:r>
          </a:p>
          <a:p>
            <a:pPr algn="l">
              <a:lnSpc>
                <a:spcPct val="118000"/>
              </a:lnSpc>
              <a:spcAft>
                <a:spcPts val="100"/>
              </a:spcAft>
            </a:pPr>
            <a:r>
              <a:rPr sz="1500" b="0">
                <a:solidFill>
                  <a:srgbClr val="3F4A5C"/>
                </a:solidFill>
                <a:latin typeface="Calibri"/>
              </a:rPr>
              <a:t>Shen et al., IEEE TIFS 2022</a:t>
            </a:r>
          </a:p>
          <a:p>
            <a:pPr algn="l">
              <a:lnSpc>
                <a:spcPct val="118000"/>
              </a:lnSpc>
              <a:spcAft>
                <a:spcPts val="100"/>
              </a:spcAft>
            </a:pPr>
            <a:r>
              <a:rPr sz="1500" b="0">
                <a:solidFill>
                  <a:srgbClr val="3F4A5C"/>
                </a:solidFill>
                <a:latin typeface="Calibri"/>
              </a:rPr>
              <a:t>Schroff et al., CVPR 2015;  Lee et al., NeurIPS 2018</a:t>
            </a:r>
          </a:p>
          <a:p>
            <a:pPr algn="l">
              <a:lnSpc>
                <a:spcPct val="118000"/>
              </a:lnSpc>
              <a:spcAft>
                <a:spcPts val="100"/>
              </a:spcAft>
            </a:pPr>
            <a:r>
              <a:rPr sz="1500" b="0">
                <a:solidFill>
                  <a:srgbClr val="3F4A5C"/>
                </a:solidFill>
                <a:latin typeface="Calibri"/>
              </a:rPr>
              <a:t>Garcia et al., USENIX Security 2016</a:t>
            </a:r>
          </a:p>
        </p:txBody>
      </p:sp>
      <p:sp>
        <p:nvSpPr>
          <p:cNvPr id="7" name="TextBox 6"/>
          <p:cNvSpPr txBox="1"/>
          <p:nvPr/>
        </p:nvSpPr>
        <p:spPr>
          <a:xfrm>
            <a:off x="812800" y="5524500"/>
            <a:ext cx="6350000" cy="530351"/>
          </a:xfrm>
          <a:prstGeom prst="rect">
            <a:avLst/>
          </a:prstGeom>
          <a:noFill/>
        </p:spPr>
        <p:txBody>
          <a:bodyPr wrap="square" lIns="0" rIns="0" tIns="0" bIns="0">
            <a:spAutoFit/>
          </a:bodyPr>
          <a:lstStyle/>
          <a:p>
            <a:pPr algn="l">
              <a:lnSpc>
                <a:spcPct val="118000"/>
              </a:lnSpc>
              <a:spcAft>
                <a:spcPts val="400"/>
              </a:spcAft>
            </a:pPr>
            <a:r>
              <a:rPr sz="3200" b="1">
                <a:solidFill>
                  <a:srgbClr val="1B2638"/>
                </a:solidFill>
                <a:latin typeface="Georgia"/>
              </a:rPr>
              <a:t>Thank you. Questions?</a:t>
            </a:r>
          </a:p>
        </p:txBody>
      </p:sp>
      <p:sp>
        <p:nvSpPr>
          <p:cNvPr id="8" name="TextBox 7"/>
          <p:cNvSpPr txBox="1"/>
          <p:nvPr/>
        </p:nvSpPr>
        <p:spPr>
          <a:xfrm>
            <a:off x="812800" y="6413500"/>
            <a:ext cx="8255000" cy="215646"/>
          </a:xfrm>
          <a:prstGeom prst="rect">
            <a:avLst/>
          </a:prstGeom>
          <a:noFill/>
        </p:spPr>
        <p:txBody>
          <a:bodyPr wrap="square" lIns="0" rIns="0" tIns="0" bIns="0">
            <a:spAutoFit/>
          </a:bodyPr>
          <a:lstStyle/>
          <a:p>
            <a:pPr algn="l">
              <a:lnSpc>
                <a:spcPct val="118000"/>
              </a:lnSpc>
              <a:spcAft>
                <a:spcPts val="400"/>
              </a:spcAft>
            </a:pPr>
            <a:r>
              <a:rPr sz="1100" b="0">
                <a:solidFill>
                  <a:srgbClr val="7A8394"/>
                </a:solidFill>
                <a:latin typeface="Calibri"/>
              </a:rPr>
              <a:t>RF Fingerprinting · Seminar</a:t>
            </a:r>
          </a:p>
        </p:txBody>
      </p:sp>
      <p:sp>
        <p:nvSpPr>
          <p:cNvPr id="9" name="TextBox 8"/>
          <p:cNvSpPr txBox="1"/>
          <p:nvPr/>
        </p:nvSpPr>
        <p:spPr>
          <a:xfrm>
            <a:off x="10617200" y="6413500"/>
            <a:ext cx="762000" cy="215646"/>
          </a:xfrm>
          <a:prstGeom prst="rect">
            <a:avLst/>
          </a:prstGeom>
          <a:noFill/>
        </p:spPr>
        <p:txBody>
          <a:bodyPr wrap="square" lIns="0" rIns="0" tIns="0" bIns="0">
            <a:spAutoFit/>
          </a:bodyPr>
          <a:lstStyle/>
          <a:p>
            <a:pPr algn="r">
              <a:lnSpc>
                <a:spcPct val="118000"/>
              </a:lnSpc>
              <a:spcAft>
                <a:spcPts val="400"/>
              </a:spcAft>
            </a:pPr>
            <a:r>
              <a:rPr sz="1100" b="0">
                <a:solidFill>
                  <a:srgbClr val="7A8394"/>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